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164592"/>
            <a:ext cx="11686032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>
                <a:alpha val="92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37744"/>
            <a:ext cx="1005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FlowMe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9144000" y="237744"/>
            <a:ext cx="2468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생태계 지도 v2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38560" y="6382512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01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03504" y="786384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D4ED8"/>
                </a:solidFill>
              </a:rPr>
              <a:t>FLOWME STRATEGY BRIEF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03504" y="1097280"/>
            <a:ext cx="7315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</a:rPr>
              <a:t>6개 앱 비교가 아니라,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</a:rPr>
              <a:t>42개 후보군을 6개 역할로 압축해야 합니다.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21792" y="2487168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FlowMe의 외부 연결 전략은 API 목록이 아니라 사용자의 실행이 완성되는 장소를 찾는 일입니다.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" y="3246120"/>
            <a:ext cx="1508760" cy="640080"/>
          </a:xfrm>
          <a:prstGeom prst="roundRect">
            <a:avLst>
              <a:gd name="adj" fmla="val 7143"/>
            </a:avLst>
          </a:prstGeom>
          <a:solidFill>
            <a:srgbClr val="EAF2FF"/>
          </a:solidFill>
          <a:ln w="12700">
            <a:solidFill>
              <a:srgbClr val="D9E2EC">
                <a:alpha val="9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0664" y="3364992"/>
            <a:ext cx="1271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</a:rPr>
              <a:t>6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49808" y="3648456"/>
            <a:ext cx="1252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B7280"/>
                </a:solidFill>
              </a:rPr>
              <a:t>분석 축</a:t>
            </a:r>
            <a:endParaRPr lang="en-US" sz="760" dirty="0"/>
          </a:p>
        </p:txBody>
      </p:sp>
      <p:sp>
        <p:nvSpPr>
          <p:cNvPr id="12" name="Shape 10"/>
          <p:cNvSpPr/>
          <p:nvPr/>
        </p:nvSpPr>
        <p:spPr>
          <a:xfrm>
            <a:off x="2267712" y="3246120"/>
            <a:ext cx="1508760" cy="640080"/>
          </a:xfrm>
          <a:prstGeom prst="roundRect">
            <a:avLst>
              <a:gd name="adj" fmla="val 7143"/>
            </a:avLst>
          </a:prstGeom>
          <a:solidFill>
            <a:srgbClr val="E8F7EF"/>
          </a:solidFill>
          <a:ln w="12700">
            <a:solidFill>
              <a:srgbClr val="D9E2EC">
                <a:alpha val="9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86584" y="3364992"/>
            <a:ext cx="1271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</a:rPr>
              <a:t>42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395728" y="3648456"/>
            <a:ext cx="1252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B7280"/>
                </a:solidFill>
              </a:rPr>
              <a:t>초기 후보군</a:t>
            </a:r>
            <a:endParaRPr lang="en-US" sz="760" dirty="0"/>
          </a:p>
        </p:txBody>
      </p:sp>
      <p:sp>
        <p:nvSpPr>
          <p:cNvPr id="15" name="Shape 13"/>
          <p:cNvSpPr/>
          <p:nvPr/>
        </p:nvSpPr>
        <p:spPr>
          <a:xfrm>
            <a:off x="3913632" y="3246120"/>
            <a:ext cx="1508760" cy="640080"/>
          </a:xfrm>
          <a:prstGeom prst="roundRect">
            <a:avLst>
              <a:gd name="adj" fmla="val 7143"/>
            </a:avLst>
          </a:prstGeom>
          <a:solidFill>
            <a:srgbClr val="FFF4D8"/>
          </a:solidFill>
          <a:ln w="12700">
            <a:solidFill>
              <a:srgbClr val="D9E2EC">
                <a:alpha val="9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32504" y="3364992"/>
            <a:ext cx="1271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</a:rPr>
              <a:t>12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041648" y="3648456"/>
            <a:ext cx="1252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B7280"/>
                </a:solidFill>
              </a:rPr>
              <a:t>우선 추적 후보</a:t>
            </a:r>
            <a:endParaRPr lang="en-US" sz="760" dirty="0"/>
          </a:p>
        </p:txBody>
      </p:sp>
      <p:sp>
        <p:nvSpPr>
          <p:cNvPr id="18" name="Shape 16"/>
          <p:cNvSpPr/>
          <p:nvPr/>
        </p:nvSpPr>
        <p:spPr>
          <a:xfrm>
            <a:off x="5559552" y="3246120"/>
            <a:ext cx="1508760" cy="640080"/>
          </a:xfrm>
          <a:prstGeom prst="roundRect">
            <a:avLst>
              <a:gd name="adj" fmla="val 7143"/>
            </a:avLst>
          </a:prstGeom>
          <a:solidFill>
            <a:srgbClr val="FFF0ED"/>
          </a:solidFill>
          <a:ln w="12700">
            <a:solidFill>
              <a:srgbClr val="D9E2EC">
                <a:alpha val="9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78424" y="3364992"/>
            <a:ext cx="1271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687568" y="3648456"/>
            <a:ext cx="1252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B7280"/>
                </a:solidFill>
              </a:rPr>
              <a:t>1차 제품 결론</a:t>
            </a:r>
            <a:endParaRPr lang="en-US" sz="760" dirty="0"/>
          </a:p>
        </p:txBody>
      </p:sp>
      <p:sp>
        <p:nvSpPr>
          <p:cNvPr id="21" name="Shape 19"/>
          <p:cNvSpPr/>
          <p:nvPr/>
        </p:nvSpPr>
        <p:spPr>
          <a:xfrm>
            <a:off x="7909560" y="914400"/>
            <a:ext cx="3383280" cy="4343400"/>
          </a:xfrm>
          <a:prstGeom prst="roundRect">
            <a:avLst>
              <a:gd name="adj" fmla="val 1351"/>
            </a:avLst>
          </a:prstGeom>
          <a:solidFill>
            <a:srgbClr val="FFFFFF"/>
          </a:solidFill>
          <a:ln w="12700">
            <a:solidFill>
              <a:srgbClr val="D9E2EC">
                <a:alpha val="9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375904" y="1316736"/>
            <a:ext cx="2487168" cy="2487168"/>
          </a:xfrm>
          <a:prstGeom prst="arc">
            <a:avLst/>
          </a:prstGeom>
          <a:noFill/>
          <a:ln w="27940">
            <a:solidFill>
              <a:srgbClr val="1D4ED8"/>
            </a:solidFill>
            <a:prstDash val="solid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8659368" y="1600200"/>
            <a:ext cx="1920240" cy="1920240"/>
          </a:xfrm>
          <a:prstGeom prst="arc">
            <a:avLst/>
          </a:prstGeom>
          <a:noFill/>
          <a:ln w="27940">
            <a:solidFill>
              <a:srgbClr val="04785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942832" y="1883664"/>
            <a:ext cx="1353312" cy="1353312"/>
          </a:xfrm>
          <a:prstGeom prst="arc">
            <a:avLst/>
          </a:prstGeom>
          <a:noFill/>
          <a:ln w="27940">
            <a:solidFill>
              <a:srgbClr val="9A5B1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0" y="2258568"/>
            <a:ext cx="950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Flow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결과물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174736" y="4133088"/>
            <a:ext cx="777240" cy="219456"/>
          </a:xfrm>
          <a:prstGeom prst="roundRect">
            <a:avLst>
              <a:gd name="adj" fmla="val 16667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0456" y="4183380"/>
            <a:ext cx="6858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1D4ED8"/>
                </a:solidFill>
              </a:rPr>
              <a:t>소스</a:t>
            </a:r>
            <a:endParaRPr lang="en-US" sz="680" dirty="0"/>
          </a:p>
        </p:txBody>
      </p:sp>
      <p:sp>
        <p:nvSpPr>
          <p:cNvPr id="28" name="Shape 26"/>
          <p:cNvSpPr/>
          <p:nvPr/>
        </p:nvSpPr>
        <p:spPr>
          <a:xfrm>
            <a:off x="9015984" y="4133088"/>
            <a:ext cx="914400" cy="219456"/>
          </a:xfrm>
          <a:prstGeom prst="roundRect">
            <a:avLst>
              <a:gd name="adj" fmla="val 16667"/>
            </a:avLst>
          </a:prstGeom>
          <a:solidFill>
            <a:srgbClr val="E8F7EF"/>
          </a:solidFill>
          <a:ln w="12700">
            <a:solidFill>
              <a:srgbClr val="E8F7E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061704" y="4183380"/>
            <a:ext cx="82296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47857"/>
                </a:solidFill>
              </a:rPr>
              <a:t>목적지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10012680" y="4133088"/>
            <a:ext cx="822960" cy="219456"/>
          </a:xfrm>
          <a:prstGeom prst="roundRect">
            <a:avLst>
              <a:gd name="adj" fmla="val 16667"/>
            </a:avLst>
          </a:prstGeom>
          <a:solidFill>
            <a:srgbClr val="FFF0ED"/>
          </a:solidFill>
          <a:ln w="12700">
            <a:solidFill>
              <a:srgbClr val="FFF0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058400" y="4183380"/>
            <a:ext cx="73152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B42318"/>
                </a:solidFill>
              </a:rPr>
              <a:t>경쟁</a:t>
            </a:r>
            <a:endParaRPr lang="en-US" sz="680" dirty="0"/>
          </a:p>
        </p:txBody>
      </p:sp>
      <p:sp>
        <p:nvSpPr>
          <p:cNvPr id="32" name="Text 30"/>
          <p:cNvSpPr/>
          <p:nvPr/>
        </p:nvSpPr>
        <p:spPr>
          <a:xfrm>
            <a:off x="8385048" y="4572000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연동보다 먼저 지도화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03504" y="6419088"/>
            <a:ext cx="9875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6B7280"/>
                </a:solidFill>
              </a:rPr>
              <a:t>Source: FlowMe internal roadmap + official product/developer docs checked on 2026-06-12.</a:t>
            </a:r>
            <a:endParaRPr lang="en-US" sz="64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164592"/>
            <a:ext cx="11686032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>
                <a:alpha val="92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37744"/>
            <a:ext cx="1005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FlowMe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9144000" y="237744"/>
            <a:ext cx="2468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재정의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38560" y="6382512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02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03504" y="71323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4ED8"/>
                </a:solidFill>
              </a:rPr>
              <a:t>WHY REPLAN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03504" y="969264"/>
            <a:ext cx="7863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6개 대표 앱 화면은 증거가 아니라 샘플입니다.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21792" y="1755648"/>
            <a:ext cx="7040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CEO 보고서에는 앱 이름보다 분석 단위와 우선순위가 먼저 보여야 합니다.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03504" y="2423160"/>
            <a:ext cx="5257800" cy="2103120"/>
          </a:xfrm>
          <a:prstGeom prst="roundRect">
            <a:avLst>
              <a:gd name="adj" fmla="val 2174"/>
            </a:avLst>
          </a:prstGeom>
          <a:solidFill>
            <a:srgbClr val="FFF0ED"/>
          </a:solidFill>
          <a:ln w="12700">
            <a:solidFill>
              <a:srgbClr val="FECACA">
                <a:alpha val="9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7824" y="267919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2318"/>
                </a:solidFill>
              </a:rPr>
              <a:t>기존 방식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77824" y="3182112"/>
            <a:ext cx="64008" cy="64008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3127248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KakaoTalk, Sheets, Notion처럼 앱 이름 중심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77824" y="3474720"/>
            <a:ext cx="64008" cy="64008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3419856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스크린샷은 있지만 왜 골랐는지 약함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77824" y="3767328"/>
            <a:ext cx="64008" cy="64008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3712464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연동·경쟁·목적지가 한 표 안에서 섞임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327648" y="2423160"/>
            <a:ext cx="5257800" cy="2103120"/>
          </a:xfrm>
          <a:prstGeom prst="roundRect">
            <a:avLst>
              <a:gd name="adj" fmla="val 2174"/>
            </a:avLst>
          </a:prstGeom>
          <a:solidFill>
            <a:srgbClr val="E8F7EF"/>
          </a:solidFill>
          <a:ln w="12700">
            <a:solidFill>
              <a:srgbClr val="A7F3D0">
                <a:alpha val="9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01968" y="267919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47857"/>
                </a:solidFill>
              </a:rPr>
              <a:t>새 방식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601968" y="3182112"/>
            <a:ext cx="64008" cy="64008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29984" y="3127248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6개 역할 축으로 서비스 후보를 분류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601968" y="3474720"/>
            <a:ext cx="64008" cy="64008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29984" y="3419856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42개 후보군에서 12개 우선 추적 후보 압축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601968" y="3767328"/>
            <a:ext cx="64008" cy="64008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29984" y="3712464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P0/P1/P2/Watch로 제품 의사결정 분리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22960" y="5074920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핵심 변화: “어떤 앱을 붙일까?”에서 “Flow가 어디에서 실행 완료되는가?”로 질문을 바꿉니다.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164592"/>
            <a:ext cx="11686032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>
                <a:alpha val="92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37744"/>
            <a:ext cx="1005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FlowMe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9144000" y="237744"/>
            <a:ext cx="2468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6개 분석 축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38560" y="6382512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03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03504" y="71323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4ED8"/>
                </a:solidFill>
              </a:rPr>
              <a:t>ECOSYSTEM MAP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03504" y="969264"/>
            <a:ext cx="7863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FlowMe 외부 생태계는 6개 역할로 나뉩니다.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21792" y="1755648"/>
            <a:ext cx="7040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하나의 서비스가 여러 축에 걸칠 수 있지만, 보고서는 주 역할을 기준으로 판단합니다.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03504" y="2240280"/>
            <a:ext cx="3429000" cy="1261872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 w="12700">
            <a:solidFill>
              <a:srgbClr val="D9E2EC">
                <a:alpha val="9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68096" y="2386584"/>
            <a:ext cx="566928" cy="219456"/>
          </a:xfrm>
          <a:prstGeom prst="roundRect">
            <a:avLst>
              <a:gd name="adj" fmla="val 16667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3816" y="2436876"/>
            <a:ext cx="47548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EAF2FF"/>
                </a:solidFill>
              </a:rPr>
              <a:t>축 1</a:t>
            </a:r>
            <a:endParaRPr lang="en-US" sz="680" dirty="0"/>
          </a:p>
        </p:txBody>
      </p:sp>
      <p:sp>
        <p:nvSpPr>
          <p:cNvPr id="12" name="Text 10"/>
          <p:cNvSpPr/>
          <p:nvPr/>
        </p:nvSpPr>
        <p:spPr>
          <a:xfrm>
            <a:off x="768096" y="2715768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콘텐츠 소스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68096" y="2990088"/>
            <a:ext cx="2971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실행 정보가 어디서 나오는가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768096" y="3209544"/>
            <a:ext cx="1280160" cy="219456"/>
          </a:xfrm>
          <a:prstGeom prst="roundRect">
            <a:avLst>
              <a:gd name="adj" fmla="val 16667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3816" y="3259836"/>
            <a:ext cx="118872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EAF2FF"/>
                </a:solidFill>
              </a:rPr>
              <a:t>Naver Blog</a:t>
            </a:r>
            <a:endParaRPr lang="en-US" sz="680" dirty="0"/>
          </a:p>
        </p:txBody>
      </p:sp>
      <p:sp>
        <p:nvSpPr>
          <p:cNvPr id="16" name="Shape 14"/>
          <p:cNvSpPr/>
          <p:nvPr/>
        </p:nvSpPr>
        <p:spPr>
          <a:xfrm>
            <a:off x="2121408" y="3209544"/>
            <a:ext cx="1184148" cy="219456"/>
          </a:xfrm>
          <a:prstGeom prst="roundRect">
            <a:avLst>
              <a:gd name="adj" fmla="val 16667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67128" y="3259836"/>
            <a:ext cx="109270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EAF2FF"/>
                </a:solidFill>
              </a:rPr>
              <a:t>YouTube</a:t>
            </a:r>
            <a:endParaRPr lang="en-US" sz="680" dirty="0"/>
          </a:p>
        </p:txBody>
      </p:sp>
      <p:sp>
        <p:nvSpPr>
          <p:cNvPr id="18" name="Shape 16"/>
          <p:cNvSpPr/>
          <p:nvPr/>
        </p:nvSpPr>
        <p:spPr>
          <a:xfrm>
            <a:off x="768096" y="3502152"/>
            <a:ext cx="1152144" cy="219456"/>
          </a:xfrm>
          <a:prstGeom prst="roundRect">
            <a:avLst>
              <a:gd name="adj" fmla="val 16667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3816" y="3552444"/>
            <a:ext cx="106070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EAF2FF"/>
                </a:solidFill>
              </a:rPr>
              <a:t>공공 PDF</a:t>
            </a:r>
            <a:endParaRPr lang="en-US" sz="680" dirty="0"/>
          </a:p>
        </p:txBody>
      </p:sp>
      <p:sp>
        <p:nvSpPr>
          <p:cNvPr id="20" name="Shape 18"/>
          <p:cNvSpPr/>
          <p:nvPr/>
        </p:nvSpPr>
        <p:spPr>
          <a:xfrm>
            <a:off x="1993392" y="3502152"/>
            <a:ext cx="1120140" cy="219456"/>
          </a:xfrm>
          <a:prstGeom prst="roundRect">
            <a:avLst>
              <a:gd name="adj" fmla="val 16667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39112" y="3552444"/>
            <a:ext cx="10287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EAF2FF"/>
                </a:solidFill>
              </a:rPr>
              <a:t>공식 문서</a:t>
            </a:r>
            <a:endParaRPr lang="en-US" sz="680" dirty="0"/>
          </a:p>
        </p:txBody>
      </p:sp>
      <p:sp>
        <p:nvSpPr>
          <p:cNvPr id="22" name="Shape 20"/>
          <p:cNvSpPr/>
          <p:nvPr/>
        </p:nvSpPr>
        <p:spPr>
          <a:xfrm>
            <a:off x="768096" y="3794760"/>
            <a:ext cx="1152144" cy="219456"/>
          </a:xfrm>
          <a:prstGeom prst="roundRect">
            <a:avLst>
              <a:gd name="adj" fmla="val 16667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3816" y="3845052"/>
            <a:ext cx="106070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EAF2FF"/>
                </a:solidFill>
              </a:rPr>
              <a:t>커뮤니티 글</a:t>
            </a:r>
            <a:endParaRPr lang="en-US" sz="680" dirty="0"/>
          </a:p>
        </p:txBody>
      </p:sp>
      <p:sp>
        <p:nvSpPr>
          <p:cNvPr id="24" name="Shape 22"/>
          <p:cNvSpPr/>
          <p:nvPr/>
        </p:nvSpPr>
        <p:spPr>
          <a:xfrm>
            <a:off x="4407408" y="2240280"/>
            <a:ext cx="3429000" cy="1261872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 w="12700">
            <a:solidFill>
              <a:srgbClr val="D9E2EC">
                <a:alpha val="9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0" y="2386584"/>
            <a:ext cx="566928" cy="219456"/>
          </a:xfrm>
          <a:prstGeom prst="roundRect">
            <a:avLst>
              <a:gd name="adj" fmla="val 16667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17720" y="2436876"/>
            <a:ext cx="47548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E8F7EF"/>
                </a:solidFill>
              </a:rPr>
              <a:t>축 2</a:t>
            </a:r>
            <a:endParaRPr lang="en-US" sz="680" dirty="0"/>
          </a:p>
        </p:txBody>
      </p:sp>
      <p:sp>
        <p:nvSpPr>
          <p:cNvPr id="27" name="Text 25"/>
          <p:cNvSpPr/>
          <p:nvPr/>
        </p:nvSpPr>
        <p:spPr>
          <a:xfrm>
            <a:off x="4572000" y="2715768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실행 목적지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0" y="2990088"/>
            <a:ext cx="2971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사용자가 어디서 행동을 끝내는가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572000" y="3209544"/>
            <a:ext cx="1216152" cy="219456"/>
          </a:xfrm>
          <a:prstGeom prst="roundRect">
            <a:avLst>
              <a:gd name="adj" fmla="val 16667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17720" y="3259836"/>
            <a:ext cx="112471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E8F7EF"/>
                </a:solidFill>
              </a:rPr>
              <a:t>Calendar</a:t>
            </a:r>
            <a:endParaRPr lang="en-US" sz="680" dirty="0"/>
          </a:p>
        </p:txBody>
      </p:sp>
      <p:sp>
        <p:nvSpPr>
          <p:cNvPr id="31" name="Shape 29"/>
          <p:cNvSpPr/>
          <p:nvPr/>
        </p:nvSpPr>
        <p:spPr>
          <a:xfrm>
            <a:off x="5861304" y="3209544"/>
            <a:ext cx="1184148" cy="219456"/>
          </a:xfrm>
          <a:prstGeom prst="roundRect">
            <a:avLst>
              <a:gd name="adj" fmla="val 16667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07024" y="3259836"/>
            <a:ext cx="109270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E8F7EF"/>
                </a:solidFill>
              </a:rPr>
              <a:t>Todoist</a:t>
            </a:r>
            <a:endParaRPr lang="en-US" sz="680" dirty="0"/>
          </a:p>
        </p:txBody>
      </p:sp>
      <p:sp>
        <p:nvSpPr>
          <p:cNvPr id="33" name="Shape 31"/>
          <p:cNvSpPr/>
          <p:nvPr/>
        </p:nvSpPr>
        <p:spPr>
          <a:xfrm>
            <a:off x="4572000" y="3502152"/>
            <a:ext cx="1184148" cy="219456"/>
          </a:xfrm>
          <a:prstGeom prst="roundRect">
            <a:avLst>
              <a:gd name="adj" fmla="val 16667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17720" y="3552444"/>
            <a:ext cx="109270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E8F7EF"/>
                </a:solidFill>
              </a:rPr>
              <a:t>Planner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5829300" y="3502152"/>
            <a:ext cx="1152144" cy="219456"/>
          </a:xfrm>
          <a:prstGeom prst="roundRect">
            <a:avLst>
              <a:gd name="adj" fmla="val 16667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75020" y="3552444"/>
            <a:ext cx="106070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E8F7EF"/>
                </a:solidFill>
              </a:rPr>
              <a:t>Trello</a:t>
            </a:r>
            <a:endParaRPr lang="en-US" sz="680" dirty="0"/>
          </a:p>
        </p:txBody>
      </p:sp>
      <p:sp>
        <p:nvSpPr>
          <p:cNvPr id="37" name="Shape 35"/>
          <p:cNvSpPr/>
          <p:nvPr/>
        </p:nvSpPr>
        <p:spPr>
          <a:xfrm>
            <a:off x="4572000" y="3794760"/>
            <a:ext cx="1120140" cy="219456"/>
          </a:xfrm>
          <a:prstGeom prst="roundRect">
            <a:avLst>
              <a:gd name="adj" fmla="val 16667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17720" y="3845052"/>
            <a:ext cx="10287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E8F7EF"/>
                </a:solidFill>
              </a:rPr>
              <a:t>Asana</a:t>
            </a:r>
            <a:endParaRPr lang="en-US" sz="680" dirty="0"/>
          </a:p>
        </p:txBody>
      </p:sp>
      <p:sp>
        <p:nvSpPr>
          <p:cNvPr id="39" name="Shape 37"/>
          <p:cNvSpPr/>
          <p:nvPr/>
        </p:nvSpPr>
        <p:spPr>
          <a:xfrm>
            <a:off x="8211312" y="2240280"/>
            <a:ext cx="3429000" cy="1261872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 w="12700">
            <a:solidFill>
              <a:srgbClr val="D9E2EC">
                <a:alpha val="9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375904" y="2386584"/>
            <a:ext cx="566928" cy="219456"/>
          </a:xfrm>
          <a:prstGeom prst="roundRect">
            <a:avLst>
              <a:gd name="adj" fmla="val 16667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421624" y="2436876"/>
            <a:ext cx="47548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4D8"/>
                </a:solidFill>
              </a:rPr>
              <a:t>축 3</a:t>
            </a:r>
            <a:endParaRPr lang="en-US" sz="680" dirty="0"/>
          </a:p>
        </p:txBody>
      </p:sp>
      <p:sp>
        <p:nvSpPr>
          <p:cNvPr id="42" name="Text 40"/>
          <p:cNvSpPr/>
          <p:nvPr/>
        </p:nvSpPr>
        <p:spPr>
          <a:xfrm>
            <a:off x="8375904" y="2715768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기록·문서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8375904" y="2990088"/>
            <a:ext cx="2971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어디에 기록과 운영표가 남는가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8375904" y="3209544"/>
            <a:ext cx="1152144" cy="219456"/>
          </a:xfrm>
          <a:prstGeom prst="roundRect">
            <a:avLst>
              <a:gd name="adj" fmla="val 16667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421624" y="3259836"/>
            <a:ext cx="106070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4D8"/>
                </a:solidFill>
              </a:rPr>
              <a:t>Sheets</a:t>
            </a:r>
            <a:endParaRPr lang="en-US" sz="680" dirty="0"/>
          </a:p>
        </p:txBody>
      </p:sp>
      <p:sp>
        <p:nvSpPr>
          <p:cNvPr id="46" name="Shape 44"/>
          <p:cNvSpPr/>
          <p:nvPr/>
        </p:nvSpPr>
        <p:spPr>
          <a:xfrm>
            <a:off x="9601200" y="3209544"/>
            <a:ext cx="1120140" cy="219456"/>
          </a:xfrm>
          <a:prstGeom prst="roundRect">
            <a:avLst>
              <a:gd name="adj" fmla="val 16667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646920" y="3259836"/>
            <a:ext cx="10287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4D8"/>
                </a:solidFill>
              </a:rPr>
              <a:t>Excel</a:t>
            </a:r>
            <a:endParaRPr lang="en-US" sz="680" dirty="0"/>
          </a:p>
        </p:txBody>
      </p:sp>
      <p:sp>
        <p:nvSpPr>
          <p:cNvPr id="48" name="Shape 46"/>
          <p:cNvSpPr/>
          <p:nvPr/>
        </p:nvSpPr>
        <p:spPr>
          <a:xfrm>
            <a:off x="8375904" y="3502152"/>
            <a:ext cx="1152144" cy="219456"/>
          </a:xfrm>
          <a:prstGeom prst="roundRect">
            <a:avLst>
              <a:gd name="adj" fmla="val 16667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421624" y="3552444"/>
            <a:ext cx="106070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4D8"/>
                </a:solidFill>
              </a:rPr>
              <a:t>Notion</a:t>
            </a:r>
            <a:endParaRPr lang="en-US" sz="680" dirty="0"/>
          </a:p>
        </p:txBody>
      </p:sp>
      <p:sp>
        <p:nvSpPr>
          <p:cNvPr id="50" name="Shape 48"/>
          <p:cNvSpPr/>
          <p:nvPr/>
        </p:nvSpPr>
        <p:spPr>
          <a:xfrm>
            <a:off x="9601200" y="3502152"/>
            <a:ext cx="1216152" cy="219456"/>
          </a:xfrm>
          <a:prstGeom prst="roundRect">
            <a:avLst>
              <a:gd name="adj" fmla="val 16667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646920" y="3552444"/>
            <a:ext cx="112471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4D8"/>
                </a:solidFill>
              </a:rPr>
              <a:t>Airtable</a:t>
            </a:r>
            <a:endParaRPr lang="en-US" sz="680" dirty="0"/>
          </a:p>
        </p:txBody>
      </p:sp>
      <p:sp>
        <p:nvSpPr>
          <p:cNvPr id="52" name="Shape 50"/>
          <p:cNvSpPr/>
          <p:nvPr/>
        </p:nvSpPr>
        <p:spPr>
          <a:xfrm>
            <a:off x="8375904" y="3794760"/>
            <a:ext cx="1088136" cy="219456"/>
          </a:xfrm>
          <a:prstGeom prst="roundRect">
            <a:avLst>
              <a:gd name="adj" fmla="val 16667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421624" y="3845052"/>
            <a:ext cx="99669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4D8"/>
                </a:solidFill>
              </a:rPr>
              <a:t>Docs</a:t>
            </a:r>
            <a:endParaRPr lang="en-US" sz="680" dirty="0"/>
          </a:p>
        </p:txBody>
      </p:sp>
      <p:sp>
        <p:nvSpPr>
          <p:cNvPr id="54" name="Shape 52"/>
          <p:cNvSpPr/>
          <p:nvPr/>
        </p:nvSpPr>
        <p:spPr>
          <a:xfrm>
            <a:off x="603504" y="3867912"/>
            <a:ext cx="3429000" cy="1261872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 w="12700">
            <a:solidFill>
              <a:srgbClr val="D9E2EC">
                <a:alpha val="95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68096" y="4014216"/>
            <a:ext cx="566928" cy="219456"/>
          </a:xfrm>
          <a:prstGeom prst="roundRect">
            <a:avLst>
              <a:gd name="adj" fmla="val 16667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13816" y="4064508"/>
            <a:ext cx="47548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0EAFF"/>
                </a:solidFill>
              </a:rPr>
              <a:t>축 4</a:t>
            </a:r>
            <a:endParaRPr lang="en-US" sz="680" dirty="0"/>
          </a:p>
        </p:txBody>
      </p:sp>
      <p:sp>
        <p:nvSpPr>
          <p:cNvPr id="57" name="Text 55"/>
          <p:cNvSpPr/>
          <p:nvPr/>
        </p:nvSpPr>
        <p:spPr>
          <a:xfrm>
            <a:off x="768096" y="4343400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공유·배포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768096" y="4617720"/>
            <a:ext cx="2971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누구에게 어떻게 전달되는가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768096" y="4837176"/>
            <a:ext cx="1248156" cy="219456"/>
          </a:xfrm>
          <a:prstGeom prst="roundRect">
            <a:avLst>
              <a:gd name="adj" fmla="val 16667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13816" y="4887468"/>
            <a:ext cx="11567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0EAFF"/>
                </a:solidFill>
              </a:rPr>
              <a:t>KakaoTalk</a:t>
            </a:r>
            <a:endParaRPr lang="en-US" sz="680" dirty="0"/>
          </a:p>
        </p:txBody>
      </p:sp>
      <p:sp>
        <p:nvSpPr>
          <p:cNvPr id="61" name="Shape 59"/>
          <p:cNvSpPr/>
          <p:nvPr/>
        </p:nvSpPr>
        <p:spPr>
          <a:xfrm>
            <a:off x="2089404" y="4837176"/>
            <a:ext cx="1280160" cy="219456"/>
          </a:xfrm>
          <a:prstGeom prst="roundRect">
            <a:avLst>
              <a:gd name="adj" fmla="val 16667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135124" y="4887468"/>
            <a:ext cx="118872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0EAFF"/>
                </a:solidFill>
              </a:rPr>
              <a:t>Naver Cafe</a:t>
            </a:r>
            <a:endParaRPr lang="en-US" sz="680" dirty="0"/>
          </a:p>
        </p:txBody>
      </p:sp>
      <p:sp>
        <p:nvSpPr>
          <p:cNvPr id="63" name="Shape 61"/>
          <p:cNvSpPr/>
          <p:nvPr/>
        </p:nvSpPr>
        <p:spPr>
          <a:xfrm>
            <a:off x="768096" y="5129784"/>
            <a:ext cx="1088136" cy="219456"/>
          </a:xfrm>
          <a:prstGeom prst="roundRect">
            <a:avLst>
              <a:gd name="adj" fmla="val 16667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13816" y="5180076"/>
            <a:ext cx="99669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0EAFF"/>
                </a:solidFill>
              </a:rPr>
              <a:t>BAND</a:t>
            </a:r>
            <a:endParaRPr lang="en-US" sz="680" dirty="0"/>
          </a:p>
        </p:txBody>
      </p:sp>
      <p:sp>
        <p:nvSpPr>
          <p:cNvPr id="65" name="Shape 63"/>
          <p:cNvSpPr/>
          <p:nvPr/>
        </p:nvSpPr>
        <p:spPr>
          <a:xfrm>
            <a:off x="1929384" y="5129784"/>
            <a:ext cx="1120140" cy="219456"/>
          </a:xfrm>
          <a:prstGeom prst="roundRect">
            <a:avLst>
              <a:gd name="adj" fmla="val 16667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975104" y="5180076"/>
            <a:ext cx="10287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0EAFF"/>
                </a:solidFill>
              </a:rPr>
              <a:t>Slack</a:t>
            </a:r>
            <a:endParaRPr lang="en-US" sz="680" dirty="0"/>
          </a:p>
        </p:txBody>
      </p:sp>
      <p:sp>
        <p:nvSpPr>
          <p:cNvPr id="67" name="Shape 65"/>
          <p:cNvSpPr/>
          <p:nvPr/>
        </p:nvSpPr>
        <p:spPr>
          <a:xfrm>
            <a:off x="768096" y="5422392"/>
            <a:ext cx="1120140" cy="219456"/>
          </a:xfrm>
          <a:prstGeom prst="roundRect">
            <a:avLst>
              <a:gd name="adj" fmla="val 16667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13816" y="5472684"/>
            <a:ext cx="10287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0EAFF"/>
                </a:solidFill>
              </a:rPr>
              <a:t>Teams</a:t>
            </a:r>
            <a:endParaRPr lang="en-US" sz="680" dirty="0"/>
          </a:p>
        </p:txBody>
      </p:sp>
      <p:sp>
        <p:nvSpPr>
          <p:cNvPr id="69" name="Shape 67"/>
          <p:cNvSpPr/>
          <p:nvPr/>
        </p:nvSpPr>
        <p:spPr>
          <a:xfrm>
            <a:off x="4407408" y="3867912"/>
            <a:ext cx="3429000" cy="1261872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 w="12700">
            <a:solidFill>
              <a:srgbClr val="D9E2EC">
                <a:alpha val="95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572000" y="4014216"/>
            <a:ext cx="566928" cy="219456"/>
          </a:xfrm>
          <a:prstGeom prst="roundRect">
            <a:avLst>
              <a:gd name="adj" fmla="val 16667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617720" y="4064508"/>
            <a:ext cx="47548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EAF2FF"/>
                </a:solidFill>
              </a:rPr>
              <a:t>축 5</a:t>
            </a:r>
            <a:endParaRPr lang="en-US" sz="680" dirty="0"/>
          </a:p>
        </p:txBody>
      </p:sp>
      <p:sp>
        <p:nvSpPr>
          <p:cNvPr id="72" name="Text 70"/>
          <p:cNvSpPr/>
          <p:nvPr/>
        </p:nvSpPr>
        <p:spPr>
          <a:xfrm>
            <a:off x="4572000" y="4343400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응답·수집</a:t>
            </a:r>
            <a:endParaRPr lang="en-US" sz="1300" dirty="0"/>
          </a:p>
        </p:txBody>
      </p:sp>
      <p:sp>
        <p:nvSpPr>
          <p:cNvPr id="73" name="Text 71"/>
          <p:cNvSpPr/>
          <p:nvPr/>
        </p:nvSpPr>
        <p:spPr>
          <a:xfrm>
            <a:off x="4572000" y="4617720"/>
            <a:ext cx="2971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상태와 반응을 어떻게 받는가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4572000" y="4837176"/>
            <a:ext cx="1120140" cy="219456"/>
          </a:xfrm>
          <a:prstGeom prst="roundRect">
            <a:avLst>
              <a:gd name="adj" fmla="val 16667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617720" y="4887468"/>
            <a:ext cx="10287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EAF2FF"/>
                </a:solidFill>
              </a:rPr>
              <a:t>Forms</a:t>
            </a:r>
            <a:endParaRPr lang="en-US" sz="680" dirty="0"/>
          </a:p>
        </p:txBody>
      </p:sp>
      <p:sp>
        <p:nvSpPr>
          <p:cNvPr id="76" name="Shape 74"/>
          <p:cNvSpPr/>
          <p:nvPr/>
        </p:nvSpPr>
        <p:spPr>
          <a:xfrm>
            <a:off x="5765292" y="4837176"/>
            <a:ext cx="1216152" cy="219456"/>
          </a:xfrm>
          <a:prstGeom prst="roundRect">
            <a:avLst>
              <a:gd name="adj" fmla="val 16667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811012" y="4887468"/>
            <a:ext cx="112471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EAF2FF"/>
                </a:solidFill>
              </a:rPr>
              <a:t>Typeform</a:t>
            </a:r>
            <a:endParaRPr lang="en-US" sz="680" dirty="0"/>
          </a:p>
        </p:txBody>
      </p:sp>
      <p:sp>
        <p:nvSpPr>
          <p:cNvPr id="78" name="Shape 76"/>
          <p:cNvSpPr/>
          <p:nvPr/>
        </p:nvSpPr>
        <p:spPr>
          <a:xfrm>
            <a:off x="4572000" y="5129784"/>
            <a:ext cx="1120140" cy="219456"/>
          </a:xfrm>
          <a:prstGeom prst="roundRect">
            <a:avLst>
              <a:gd name="adj" fmla="val 16667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617720" y="5180076"/>
            <a:ext cx="10287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EAF2FF"/>
                </a:solidFill>
              </a:rPr>
              <a:t>Tally</a:t>
            </a:r>
            <a:endParaRPr lang="en-US" sz="680" dirty="0"/>
          </a:p>
        </p:txBody>
      </p:sp>
      <p:sp>
        <p:nvSpPr>
          <p:cNvPr id="80" name="Shape 78"/>
          <p:cNvSpPr/>
          <p:nvPr/>
        </p:nvSpPr>
        <p:spPr>
          <a:xfrm>
            <a:off x="5765292" y="5129784"/>
            <a:ext cx="1152144" cy="219456"/>
          </a:xfrm>
          <a:prstGeom prst="roundRect">
            <a:avLst>
              <a:gd name="adj" fmla="val 16667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811012" y="5180076"/>
            <a:ext cx="106070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EAF2FF"/>
                </a:solidFill>
              </a:rPr>
              <a:t>Sheets</a:t>
            </a:r>
            <a:endParaRPr lang="en-US" sz="680" dirty="0"/>
          </a:p>
        </p:txBody>
      </p:sp>
      <p:sp>
        <p:nvSpPr>
          <p:cNvPr id="82" name="Shape 80"/>
          <p:cNvSpPr/>
          <p:nvPr/>
        </p:nvSpPr>
        <p:spPr>
          <a:xfrm>
            <a:off x="4572000" y="5422392"/>
            <a:ext cx="1248156" cy="219456"/>
          </a:xfrm>
          <a:prstGeom prst="roundRect">
            <a:avLst>
              <a:gd name="adj" fmla="val 16667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617720" y="5472684"/>
            <a:ext cx="11567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EAF2FF"/>
                </a:solidFill>
              </a:rPr>
              <a:t>Reactions</a:t>
            </a:r>
            <a:endParaRPr lang="en-US" sz="680" dirty="0"/>
          </a:p>
        </p:txBody>
      </p:sp>
      <p:sp>
        <p:nvSpPr>
          <p:cNvPr id="84" name="Shape 82"/>
          <p:cNvSpPr/>
          <p:nvPr/>
        </p:nvSpPr>
        <p:spPr>
          <a:xfrm>
            <a:off x="8211312" y="3867912"/>
            <a:ext cx="3429000" cy="1261872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 w="12700">
            <a:solidFill>
              <a:srgbClr val="D9E2EC">
                <a:alpha val="9500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8375904" y="4014216"/>
            <a:ext cx="566928" cy="219456"/>
          </a:xfrm>
          <a:prstGeom prst="roundRect">
            <a:avLst>
              <a:gd name="adj" fmla="val 16667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8421624" y="4064508"/>
            <a:ext cx="47548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0ED"/>
                </a:solidFill>
              </a:rPr>
              <a:t>축 6</a:t>
            </a:r>
            <a:endParaRPr lang="en-US" sz="680" dirty="0"/>
          </a:p>
        </p:txBody>
      </p:sp>
      <p:sp>
        <p:nvSpPr>
          <p:cNvPr id="87" name="Text 85"/>
          <p:cNvSpPr/>
          <p:nvPr/>
        </p:nvSpPr>
        <p:spPr>
          <a:xfrm>
            <a:off x="8375904" y="4343400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경쟁·자동화</a:t>
            </a:r>
            <a:endParaRPr lang="en-US" sz="1300" dirty="0"/>
          </a:p>
        </p:txBody>
      </p:sp>
      <p:sp>
        <p:nvSpPr>
          <p:cNvPr id="88" name="Text 86"/>
          <p:cNvSpPr/>
          <p:nvPr/>
        </p:nvSpPr>
        <p:spPr>
          <a:xfrm>
            <a:off x="8375904" y="4617720"/>
            <a:ext cx="2971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FlowMe 없이 해결 가능한가</a:t>
            </a:r>
            <a:endParaRPr lang="en-US" sz="850" dirty="0"/>
          </a:p>
        </p:txBody>
      </p:sp>
      <p:sp>
        <p:nvSpPr>
          <p:cNvPr id="89" name="Shape 87"/>
          <p:cNvSpPr/>
          <p:nvPr/>
        </p:nvSpPr>
        <p:spPr>
          <a:xfrm>
            <a:off x="8375904" y="4837176"/>
            <a:ext cx="1152144" cy="219456"/>
          </a:xfrm>
          <a:prstGeom prst="roundRect">
            <a:avLst>
              <a:gd name="adj" fmla="val 16667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8421624" y="4887468"/>
            <a:ext cx="106070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0ED"/>
                </a:solidFill>
              </a:rPr>
              <a:t>Zapier</a:t>
            </a:r>
            <a:endParaRPr lang="en-US" sz="680" dirty="0"/>
          </a:p>
        </p:txBody>
      </p:sp>
      <p:sp>
        <p:nvSpPr>
          <p:cNvPr id="91" name="Shape 89"/>
          <p:cNvSpPr/>
          <p:nvPr/>
        </p:nvSpPr>
        <p:spPr>
          <a:xfrm>
            <a:off x="9601200" y="4837176"/>
            <a:ext cx="1088136" cy="219456"/>
          </a:xfrm>
          <a:prstGeom prst="roundRect">
            <a:avLst>
              <a:gd name="adj" fmla="val 16667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9646920" y="4887468"/>
            <a:ext cx="99669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0ED"/>
                </a:solidFill>
              </a:rPr>
              <a:t>Make</a:t>
            </a:r>
            <a:endParaRPr lang="en-US" sz="680" dirty="0"/>
          </a:p>
        </p:txBody>
      </p:sp>
      <p:sp>
        <p:nvSpPr>
          <p:cNvPr id="93" name="Shape 91"/>
          <p:cNvSpPr/>
          <p:nvPr/>
        </p:nvSpPr>
        <p:spPr>
          <a:xfrm>
            <a:off x="8375904" y="5129784"/>
            <a:ext cx="1184148" cy="219456"/>
          </a:xfrm>
          <a:prstGeom prst="roundRect">
            <a:avLst>
              <a:gd name="adj" fmla="val 16667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8421624" y="5180076"/>
            <a:ext cx="109270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0ED"/>
                </a:solidFill>
              </a:rPr>
              <a:t>ChatGPT</a:t>
            </a:r>
            <a:endParaRPr lang="en-US" sz="680" dirty="0"/>
          </a:p>
        </p:txBody>
      </p:sp>
      <p:sp>
        <p:nvSpPr>
          <p:cNvPr id="95" name="Shape 93"/>
          <p:cNvSpPr/>
          <p:nvPr/>
        </p:nvSpPr>
        <p:spPr>
          <a:xfrm>
            <a:off x="9633204" y="5129784"/>
            <a:ext cx="1152144" cy="219456"/>
          </a:xfrm>
          <a:prstGeom prst="roundRect">
            <a:avLst>
              <a:gd name="adj" fmla="val 16667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9678924" y="5180076"/>
            <a:ext cx="106070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0ED"/>
                </a:solidFill>
              </a:rPr>
              <a:t>Gemini</a:t>
            </a:r>
            <a:endParaRPr lang="en-US" sz="680" dirty="0"/>
          </a:p>
        </p:txBody>
      </p:sp>
      <p:sp>
        <p:nvSpPr>
          <p:cNvPr id="97" name="Shape 95"/>
          <p:cNvSpPr/>
          <p:nvPr/>
        </p:nvSpPr>
        <p:spPr>
          <a:xfrm>
            <a:off x="8375904" y="5422392"/>
            <a:ext cx="1184148" cy="219456"/>
          </a:xfrm>
          <a:prstGeom prst="roundRect">
            <a:avLst>
              <a:gd name="adj" fmla="val 16667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8421624" y="5472684"/>
            <a:ext cx="109270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0ED"/>
                </a:solidFill>
              </a:rPr>
              <a:t>Copilot</a:t>
            </a:r>
            <a:endParaRPr lang="en-US" sz="6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164592"/>
            <a:ext cx="11686032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>
                <a:alpha val="92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37744"/>
            <a:ext cx="1005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FlowMe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9144000" y="237744"/>
            <a:ext cx="2468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42개 후보 압축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38560" y="6382512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04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03504" y="71323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4ED8"/>
                </a:solidFill>
              </a:rPr>
              <a:t>CANDIDATE COMPRESSION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03504" y="969264"/>
            <a:ext cx="7863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42개 후보는 12개 우선 추적 묶음으로 압축됩니다.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21792" y="1755648"/>
            <a:ext cx="7040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개별 앱을 모두 연동 후보로 보지 않고, 제품 가치가 같은 후보를 하나의 결정 묶음으로 봅니다.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30352" y="2176272"/>
            <a:ext cx="10881360" cy="3401568"/>
          </a:xfrm>
          <a:prstGeom prst="roundRect">
            <a:avLst>
              <a:gd name="adj" fmla="val 1344"/>
            </a:avLst>
          </a:prstGeom>
          <a:solidFill>
            <a:srgbClr val="FFFFFF"/>
          </a:solidFill>
          <a:ln w="12700">
            <a:solidFill>
              <a:srgbClr val="D9E2EC">
                <a:alpha val="9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395728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827"/>
                </a:solidFill>
              </a:rPr>
              <a:t>묶음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965960" y="2395728"/>
            <a:ext cx="2057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827"/>
                </a:solidFill>
              </a:rPr>
              <a:t>대표 후보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297680" y="2395728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827"/>
                </a:solidFill>
              </a:rPr>
              <a:t>FlowMe 역할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400800" y="2395728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827"/>
                </a:solidFill>
              </a:rPr>
              <a:t>먼저 만들 것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8366760" y="239572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827"/>
                </a:solidFill>
              </a:rPr>
              <a:t>판단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40080" y="2642616"/>
            <a:ext cx="10241280" cy="0"/>
          </a:xfrm>
          <a:prstGeom prst="line">
            <a:avLst/>
          </a:prstGeom>
          <a:noFill/>
          <a:ln w="12700">
            <a:solidFill>
              <a:srgbClr val="D9E2EC">
                <a:alpha val="8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2724912"/>
            <a:ext cx="1143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74151"/>
                </a:solidFill>
              </a:rPr>
              <a:t>캘린더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965960" y="2724912"/>
            <a:ext cx="2057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374151"/>
                </a:solidFill>
              </a:rPr>
              <a:t>Google / Outlook / Apple</a:t>
            </a:r>
            <a:endParaRPr lang="en-US" sz="780" dirty="0"/>
          </a:p>
        </p:txBody>
      </p:sp>
      <p:sp>
        <p:nvSpPr>
          <p:cNvPr id="18" name="Text 16"/>
          <p:cNvSpPr/>
          <p:nvPr/>
        </p:nvSpPr>
        <p:spPr>
          <a:xfrm>
            <a:off x="4297680" y="2724912"/>
            <a:ext cx="18288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374151"/>
                </a:solidFill>
              </a:rPr>
              <a:t>날짜·반복·마감</a:t>
            </a:r>
            <a:endParaRPr lang="en-US" sz="780" dirty="0"/>
          </a:p>
        </p:txBody>
      </p:sp>
      <p:sp>
        <p:nvSpPr>
          <p:cNvPr id="19" name="Text 17"/>
          <p:cNvSpPr/>
          <p:nvPr/>
        </p:nvSpPr>
        <p:spPr>
          <a:xfrm>
            <a:off x="6400800" y="2724912"/>
            <a:ext cx="16916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374151"/>
                </a:solidFill>
              </a:rPr>
              <a:t>ICS·일정 텍스트</a:t>
            </a:r>
            <a:endParaRPr lang="en-US" sz="780" dirty="0"/>
          </a:p>
        </p:txBody>
      </p:sp>
      <p:sp>
        <p:nvSpPr>
          <p:cNvPr id="20" name="Text 18"/>
          <p:cNvSpPr/>
          <p:nvPr/>
        </p:nvSpPr>
        <p:spPr>
          <a:xfrm>
            <a:off x="8366760" y="2724912"/>
            <a:ext cx="8686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D4ED8"/>
                </a:solidFill>
              </a:rPr>
              <a:t>P0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640080" y="2971800"/>
            <a:ext cx="10241280" cy="0"/>
          </a:xfrm>
          <a:prstGeom prst="line">
            <a:avLst/>
          </a:prstGeom>
          <a:noFill/>
          <a:ln w="12700">
            <a:solidFill>
              <a:srgbClr val="D9E2EC">
                <a:alpha val="8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054096"/>
            <a:ext cx="1143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74151"/>
                </a:solidFill>
              </a:rPr>
              <a:t>표·문서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965960" y="3054096"/>
            <a:ext cx="2057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374151"/>
                </a:solidFill>
              </a:rPr>
              <a:t>Sheets / Excel / Notion</a:t>
            </a:r>
            <a:endParaRPr lang="en-US" sz="780" dirty="0"/>
          </a:p>
        </p:txBody>
      </p:sp>
      <p:sp>
        <p:nvSpPr>
          <p:cNvPr id="24" name="Text 22"/>
          <p:cNvSpPr/>
          <p:nvPr/>
        </p:nvSpPr>
        <p:spPr>
          <a:xfrm>
            <a:off x="4297680" y="3054096"/>
            <a:ext cx="18288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374151"/>
                </a:solidFill>
              </a:rPr>
              <a:t>체크·기록·운영</a:t>
            </a:r>
            <a:endParaRPr lang="en-US" sz="780" dirty="0"/>
          </a:p>
        </p:txBody>
      </p:sp>
      <p:sp>
        <p:nvSpPr>
          <p:cNvPr id="25" name="Text 23"/>
          <p:cNvSpPr/>
          <p:nvPr/>
        </p:nvSpPr>
        <p:spPr>
          <a:xfrm>
            <a:off x="6400800" y="3054096"/>
            <a:ext cx="16916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374151"/>
                </a:solidFill>
              </a:rPr>
              <a:t>CSV·Markdown</a:t>
            </a:r>
            <a:endParaRPr lang="en-US" sz="780" dirty="0"/>
          </a:p>
        </p:txBody>
      </p:sp>
      <p:sp>
        <p:nvSpPr>
          <p:cNvPr id="26" name="Text 24"/>
          <p:cNvSpPr/>
          <p:nvPr/>
        </p:nvSpPr>
        <p:spPr>
          <a:xfrm>
            <a:off x="8366760" y="3054096"/>
            <a:ext cx="8686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D4ED8"/>
                </a:solidFill>
              </a:rPr>
              <a:t>P0</a:t>
            </a:r>
            <a:endParaRPr lang="en-US" sz="780" dirty="0"/>
          </a:p>
        </p:txBody>
      </p:sp>
      <p:sp>
        <p:nvSpPr>
          <p:cNvPr id="27" name="Shape 25"/>
          <p:cNvSpPr/>
          <p:nvPr/>
        </p:nvSpPr>
        <p:spPr>
          <a:xfrm>
            <a:off x="640080" y="3300984"/>
            <a:ext cx="10241280" cy="0"/>
          </a:xfrm>
          <a:prstGeom prst="line">
            <a:avLst/>
          </a:prstGeom>
          <a:noFill/>
          <a:ln w="12700">
            <a:solidFill>
              <a:srgbClr val="D9E2EC">
                <a:alpha val="8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3383280"/>
            <a:ext cx="1143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74151"/>
                </a:solidFill>
              </a:rPr>
              <a:t>공유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965960" y="3383280"/>
            <a:ext cx="2057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374151"/>
                </a:solidFill>
              </a:rPr>
              <a:t>KakaoTalk / Cafe / BAND</a:t>
            </a:r>
            <a:endParaRPr lang="en-US" sz="780" dirty="0"/>
          </a:p>
        </p:txBody>
      </p:sp>
      <p:sp>
        <p:nvSpPr>
          <p:cNvPr id="30" name="Text 28"/>
          <p:cNvSpPr/>
          <p:nvPr/>
        </p:nvSpPr>
        <p:spPr>
          <a:xfrm>
            <a:off x="4297680" y="3383280"/>
            <a:ext cx="18288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374151"/>
                </a:solidFill>
              </a:rPr>
              <a:t>개인·그룹 전달</a:t>
            </a:r>
            <a:endParaRPr lang="en-US" sz="780" dirty="0"/>
          </a:p>
        </p:txBody>
      </p:sp>
      <p:sp>
        <p:nvSpPr>
          <p:cNvPr id="31" name="Text 29"/>
          <p:cNvSpPr/>
          <p:nvPr/>
        </p:nvSpPr>
        <p:spPr>
          <a:xfrm>
            <a:off x="6400800" y="3383280"/>
            <a:ext cx="16916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374151"/>
                </a:solidFill>
              </a:rPr>
              <a:t>공유 카드·게시문</a:t>
            </a:r>
            <a:endParaRPr lang="en-US" sz="780" dirty="0"/>
          </a:p>
        </p:txBody>
      </p:sp>
      <p:sp>
        <p:nvSpPr>
          <p:cNvPr id="32" name="Text 30"/>
          <p:cNvSpPr/>
          <p:nvPr/>
        </p:nvSpPr>
        <p:spPr>
          <a:xfrm>
            <a:off x="8366760" y="3383280"/>
            <a:ext cx="8686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D4ED8"/>
                </a:solidFill>
              </a:rPr>
              <a:t>P0/P1</a:t>
            </a:r>
            <a:endParaRPr lang="en-US" sz="780" dirty="0"/>
          </a:p>
        </p:txBody>
      </p:sp>
      <p:sp>
        <p:nvSpPr>
          <p:cNvPr id="33" name="Shape 31"/>
          <p:cNvSpPr/>
          <p:nvPr/>
        </p:nvSpPr>
        <p:spPr>
          <a:xfrm>
            <a:off x="640080" y="3630168"/>
            <a:ext cx="10241280" cy="0"/>
          </a:xfrm>
          <a:prstGeom prst="line">
            <a:avLst/>
          </a:prstGeom>
          <a:noFill/>
          <a:ln w="12700">
            <a:solidFill>
              <a:srgbClr val="D9E2EC">
                <a:alpha val="8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3712464"/>
            <a:ext cx="1143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74151"/>
                </a:solidFill>
              </a:rPr>
              <a:t>응답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965960" y="3712464"/>
            <a:ext cx="2057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374151"/>
                </a:solidFill>
              </a:rPr>
              <a:t>Forms / Typeform / Tally</a:t>
            </a:r>
            <a:endParaRPr lang="en-US" sz="780" dirty="0"/>
          </a:p>
        </p:txBody>
      </p:sp>
      <p:sp>
        <p:nvSpPr>
          <p:cNvPr id="36" name="Text 34"/>
          <p:cNvSpPr/>
          <p:nvPr/>
        </p:nvSpPr>
        <p:spPr>
          <a:xfrm>
            <a:off x="4297680" y="3712464"/>
            <a:ext cx="18288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374151"/>
                </a:solidFill>
              </a:rPr>
              <a:t>신청·상태 수집</a:t>
            </a:r>
            <a:endParaRPr lang="en-US" sz="780" dirty="0"/>
          </a:p>
        </p:txBody>
      </p:sp>
      <p:sp>
        <p:nvSpPr>
          <p:cNvPr id="37" name="Text 35"/>
          <p:cNvSpPr/>
          <p:nvPr/>
        </p:nvSpPr>
        <p:spPr>
          <a:xfrm>
            <a:off x="6400800" y="3712464"/>
            <a:ext cx="16916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374151"/>
                </a:solidFill>
              </a:rPr>
              <a:t>질문 템플릿</a:t>
            </a:r>
            <a:endParaRPr lang="en-US" sz="780" dirty="0"/>
          </a:p>
        </p:txBody>
      </p:sp>
      <p:sp>
        <p:nvSpPr>
          <p:cNvPr id="38" name="Text 36"/>
          <p:cNvSpPr/>
          <p:nvPr/>
        </p:nvSpPr>
        <p:spPr>
          <a:xfrm>
            <a:off x="8366760" y="3712464"/>
            <a:ext cx="8686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D4ED8"/>
                </a:solidFill>
              </a:rPr>
              <a:t>P1</a:t>
            </a:r>
            <a:endParaRPr lang="en-US" sz="780" dirty="0"/>
          </a:p>
        </p:txBody>
      </p:sp>
      <p:sp>
        <p:nvSpPr>
          <p:cNvPr id="39" name="Shape 37"/>
          <p:cNvSpPr/>
          <p:nvPr/>
        </p:nvSpPr>
        <p:spPr>
          <a:xfrm>
            <a:off x="640080" y="3959352"/>
            <a:ext cx="10241280" cy="0"/>
          </a:xfrm>
          <a:prstGeom prst="line">
            <a:avLst/>
          </a:prstGeom>
          <a:noFill/>
          <a:ln w="12700">
            <a:solidFill>
              <a:srgbClr val="D9E2EC">
                <a:alpha val="8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080" y="4041648"/>
            <a:ext cx="1143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74151"/>
                </a:solidFill>
              </a:rPr>
              <a:t>할 일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1965960" y="4041648"/>
            <a:ext cx="2057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374151"/>
                </a:solidFill>
              </a:rPr>
              <a:t>Todoist / Tasks / Planner</a:t>
            </a:r>
            <a:endParaRPr lang="en-US" sz="780" dirty="0"/>
          </a:p>
        </p:txBody>
      </p:sp>
      <p:sp>
        <p:nvSpPr>
          <p:cNvPr id="42" name="Text 40"/>
          <p:cNvSpPr/>
          <p:nvPr/>
        </p:nvSpPr>
        <p:spPr>
          <a:xfrm>
            <a:off x="4297680" y="4041648"/>
            <a:ext cx="18288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374151"/>
                </a:solidFill>
              </a:rPr>
              <a:t>개인·팀 실행</a:t>
            </a:r>
            <a:endParaRPr lang="en-US" sz="780" dirty="0"/>
          </a:p>
        </p:txBody>
      </p:sp>
      <p:sp>
        <p:nvSpPr>
          <p:cNvPr id="43" name="Text 41"/>
          <p:cNvSpPr/>
          <p:nvPr/>
        </p:nvSpPr>
        <p:spPr>
          <a:xfrm>
            <a:off x="6400800" y="4041648"/>
            <a:ext cx="16916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374151"/>
                </a:solidFill>
              </a:rPr>
              <a:t>체크리스트 복사</a:t>
            </a:r>
            <a:endParaRPr lang="en-US" sz="780" dirty="0"/>
          </a:p>
        </p:txBody>
      </p:sp>
      <p:sp>
        <p:nvSpPr>
          <p:cNvPr id="44" name="Text 42"/>
          <p:cNvSpPr/>
          <p:nvPr/>
        </p:nvSpPr>
        <p:spPr>
          <a:xfrm>
            <a:off x="8366760" y="4041648"/>
            <a:ext cx="8686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D4ED8"/>
                </a:solidFill>
              </a:rPr>
              <a:t>P1</a:t>
            </a:r>
            <a:endParaRPr lang="en-US" sz="780" dirty="0"/>
          </a:p>
        </p:txBody>
      </p:sp>
      <p:sp>
        <p:nvSpPr>
          <p:cNvPr id="45" name="Shape 43"/>
          <p:cNvSpPr/>
          <p:nvPr/>
        </p:nvSpPr>
        <p:spPr>
          <a:xfrm>
            <a:off x="640080" y="4288536"/>
            <a:ext cx="10241280" cy="0"/>
          </a:xfrm>
          <a:prstGeom prst="line">
            <a:avLst/>
          </a:prstGeom>
          <a:noFill/>
          <a:ln w="12700">
            <a:solidFill>
              <a:srgbClr val="D9E2EC">
                <a:alpha val="80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0080" y="4370832"/>
            <a:ext cx="1143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74151"/>
                </a:solidFill>
              </a:rPr>
              <a:t>팀 채널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1965960" y="4370832"/>
            <a:ext cx="2057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374151"/>
                </a:solidFill>
              </a:rPr>
              <a:t>Slack / Teams / Discord</a:t>
            </a:r>
            <a:endParaRPr lang="en-US" sz="780" dirty="0"/>
          </a:p>
        </p:txBody>
      </p:sp>
      <p:sp>
        <p:nvSpPr>
          <p:cNvPr id="48" name="Text 46"/>
          <p:cNvSpPr/>
          <p:nvPr/>
        </p:nvSpPr>
        <p:spPr>
          <a:xfrm>
            <a:off x="4297680" y="4370832"/>
            <a:ext cx="18288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374151"/>
                </a:solidFill>
              </a:rPr>
              <a:t>팀 공유</a:t>
            </a:r>
            <a:endParaRPr lang="en-US" sz="780" dirty="0"/>
          </a:p>
        </p:txBody>
      </p:sp>
      <p:sp>
        <p:nvSpPr>
          <p:cNvPr id="49" name="Text 47"/>
          <p:cNvSpPr/>
          <p:nvPr/>
        </p:nvSpPr>
        <p:spPr>
          <a:xfrm>
            <a:off x="6400800" y="4370832"/>
            <a:ext cx="16916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374151"/>
                </a:solidFill>
              </a:rPr>
              <a:t>메시지 블록</a:t>
            </a:r>
            <a:endParaRPr lang="en-US" sz="780" dirty="0"/>
          </a:p>
        </p:txBody>
      </p:sp>
      <p:sp>
        <p:nvSpPr>
          <p:cNvPr id="50" name="Text 48"/>
          <p:cNvSpPr/>
          <p:nvPr/>
        </p:nvSpPr>
        <p:spPr>
          <a:xfrm>
            <a:off x="8366760" y="4370832"/>
            <a:ext cx="8686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D4ED8"/>
                </a:solidFill>
              </a:rPr>
              <a:t>P1</a:t>
            </a:r>
            <a:endParaRPr lang="en-US" sz="780" dirty="0"/>
          </a:p>
        </p:txBody>
      </p:sp>
      <p:sp>
        <p:nvSpPr>
          <p:cNvPr id="51" name="Shape 49"/>
          <p:cNvSpPr/>
          <p:nvPr/>
        </p:nvSpPr>
        <p:spPr>
          <a:xfrm>
            <a:off x="640080" y="4617720"/>
            <a:ext cx="10241280" cy="0"/>
          </a:xfrm>
          <a:prstGeom prst="line">
            <a:avLst/>
          </a:prstGeom>
          <a:noFill/>
          <a:ln w="12700">
            <a:solidFill>
              <a:srgbClr val="D9E2EC">
                <a:alpha val="80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0080" y="4700016"/>
            <a:ext cx="1143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74151"/>
                </a:solidFill>
              </a:rPr>
              <a:t>자동화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1965960" y="4700016"/>
            <a:ext cx="2057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374151"/>
                </a:solidFill>
              </a:rPr>
              <a:t>Zapier / Make / IFTTT</a:t>
            </a:r>
            <a:endParaRPr lang="en-US" sz="780" dirty="0"/>
          </a:p>
        </p:txBody>
      </p:sp>
      <p:sp>
        <p:nvSpPr>
          <p:cNvPr id="54" name="Text 52"/>
          <p:cNvSpPr/>
          <p:nvPr/>
        </p:nvSpPr>
        <p:spPr>
          <a:xfrm>
            <a:off x="4297680" y="4700016"/>
            <a:ext cx="18288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374151"/>
                </a:solidFill>
              </a:rPr>
              <a:t>앱 연결 대체재</a:t>
            </a:r>
            <a:endParaRPr lang="en-US" sz="780" dirty="0"/>
          </a:p>
        </p:txBody>
      </p:sp>
      <p:sp>
        <p:nvSpPr>
          <p:cNvPr id="55" name="Text 53"/>
          <p:cNvSpPr/>
          <p:nvPr/>
        </p:nvSpPr>
        <p:spPr>
          <a:xfrm>
            <a:off x="6400800" y="4700016"/>
            <a:ext cx="16916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374151"/>
                </a:solidFill>
              </a:rPr>
              <a:t>차별점 감시</a:t>
            </a:r>
            <a:endParaRPr lang="en-US" sz="780" dirty="0"/>
          </a:p>
        </p:txBody>
      </p:sp>
      <p:sp>
        <p:nvSpPr>
          <p:cNvPr id="56" name="Text 54"/>
          <p:cNvSpPr/>
          <p:nvPr/>
        </p:nvSpPr>
        <p:spPr>
          <a:xfrm>
            <a:off x="8366760" y="4700016"/>
            <a:ext cx="8686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D4ED8"/>
                </a:solidFill>
              </a:rPr>
              <a:t>Watch</a:t>
            </a:r>
            <a:endParaRPr lang="en-US" sz="780" dirty="0"/>
          </a:p>
        </p:txBody>
      </p:sp>
      <p:sp>
        <p:nvSpPr>
          <p:cNvPr id="57" name="Shape 55"/>
          <p:cNvSpPr/>
          <p:nvPr/>
        </p:nvSpPr>
        <p:spPr>
          <a:xfrm>
            <a:off x="640080" y="4946904"/>
            <a:ext cx="10241280" cy="0"/>
          </a:xfrm>
          <a:prstGeom prst="line">
            <a:avLst/>
          </a:prstGeom>
          <a:noFill/>
          <a:ln w="12700">
            <a:solidFill>
              <a:srgbClr val="D9E2EC">
                <a:alpha val="8000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40080" y="5029200"/>
            <a:ext cx="1143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74151"/>
                </a:solidFill>
              </a:rPr>
              <a:t>AI 앱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1965960" y="5029200"/>
            <a:ext cx="2057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374151"/>
                </a:solidFill>
              </a:rPr>
              <a:t>ChatGPT / Gemini / Copilot</a:t>
            </a:r>
            <a:endParaRPr lang="en-US" sz="780" dirty="0"/>
          </a:p>
        </p:txBody>
      </p:sp>
      <p:sp>
        <p:nvSpPr>
          <p:cNvPr id="60" name="Text 58"/>
          <p:cNvSpPr/>
          <p:nvPr/>
        </p:nvSpPr>
        <p:spPr>
          <a:xfrm>
            <a:off x="4297680" y="5029200"/>
            <a:ext cx="18288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374151"/>
                </a:solidFill>
              </a:rPr>
              <a:t>업무 앱 직접 실행</a:t>
            </a:r>
            <a:endParaRPr lang="en-US" sz="780" dirty="0"/>
          </a:p>
        </p:txBody>
      </p:sp>
      <p:sp>
        <p:nvSpPr>
          <p:cNvPr id="61" name="Text 59"/>
          <p:cNvSpPr/>
          <p:nvPr/>
        </p:nvSpPr>
        <p:spPr>
          <a:xfrm>
            <a:off x="6400800" y="5029200"/>
            <a:ext cx="16916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374151"/>
                </a:solidFill>
              </a:rPr>
              <a:t>경쟁 흐름 감시</a:t>
            </a:r>
            <a:endParaRPr lang="en-US" sz="780" dirty="0"/>
          </a:p>
        </p:txBody>
      </p:sp>
      <p:sp>
        <p:nvSpPr>
          <p:cNvPr id="62" name="Text 60"/>
          <p:cNvSpPr/>
          <p:nvPr/>
        </p:nvSpPr>
        <p:spPr>
          <a:xfrm>
            <a:off x="8366760" y="5029200"/>
            <a:ext cx="8686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D4ED8"/>
                </a:solidFill>
              </a:rPr>
              <a:t>Watch</a:t>
            </a:r>
            <a:endParaRPr lang="en-US" sz="780" dirty="0"/>
          </a:p>
        </p:txBody>
      </p:sp>
      <p:sp>
        <p:nvSpPr>
          <p:cNvPr id="63" name="Text 61"/>
          <p:cNvSpPr/>
          <p:nvPr/>
        </p:nvSpPr>
        <p:spPr>
          <a:xfrm>
            <a:off x="603504" y="6419088"/>
            <a:ext cx="9875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6B7280"/>
                </a:solidFill>
              </a:rPr>
              <a:t>Candidate groups are derived from official product/developer pages and FlowMe destination-fit rules.</a:t>
            </a:r>
            <a:endParaRPr lang="en-US" sz="64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164592"/>
            <a:ext cx="11686032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>
                <a:alpha val="92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37744"/>
            <a:ext cx="1005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FlowMe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9144000" y="237744"/>
            <a:ext cx="2468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우선순위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38560" y="6382512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05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03504" y="71323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4ED8"/>
                </a:solidFill>
              </a:rPr>
              <a:t>PRIORITY LANES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03504" y="969264"/>
            <a:ext cx="7863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FlowMe의 1차 연결 전략은 API가 아니라 내보내기 품질입니다.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21792" y="1755648"/>
            <a:ext cx="7040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P0는 계정 권한 없이 바로 쓸 수 있는 산출물입니다. 연동은 사용 신호 뒤에 옵니다.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58368" y="2286000"/>
            <a:ext cx="2395728" cy="2651760"/>
          </a:xfrm>
          <a:prstGeom prst="roundRect">
            <a:avLst>
              <a:gd name="adj" fmla="val 1908"/>
            </a:avLst>
          </a:prstGeom>
          <a:solidFill>
            <a:srgbClr val="E8F7EF"/>
          </a:solidFill>
          <a:ln w="12700">
            <a:solidFill>
              <a:srgbClr val="E8F7EF">
                <a:alpha val="9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258775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47857"/>
                </a:solidFill>
              </a:rPr>
              <a:t>P0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41248" y="309067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바로 제품화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41248" y="35661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ICS, CSV, Markdown, 공유 카드, 게시문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447288" y="2286000"/>
            <a:ext cx="2395728" cy="2651760"/>
          </a:xfrm>
          <a:prstGeom prst="roundRect">
            <a:avLst>
              <a:gd name="adj" fmla="val 1908"/>
            </a:avLst>
          </a:prstGeom>
          <a:solidFill>
            <a:srgbClr val="EAF2FF"/>
          </a:solidFill>
          <a:ln w="12700">
            <a:solidFill>
              <a:srgbClr val="EAF2FF">
                <a:alpha val="9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30168" y="258775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D4ED8"/>
                </a:solidFill>
              </a:rPr>
              <a:t>P1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30168" y="309067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템플릿 후보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30168" y="35661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폼 질문 구조, 메시지 블록, 할 일 목록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36208" y="2286000"/>
            <a:ext cx="2395728" cy="2651760"/>
          </a:xfrm>
          <a:prstGeom prst="roundRect">
            <a:avLst>
              <a:gd name="adj" fmla="val 1908"/>
            </a:avLst>
          </a:prstGeom>
          <a:solidFill>
            <a:srgbClr val="FFF4D8"/>
          </a:solidFill>
          <a:ln w="12700">
            <a:solidFill>
              <a:srgbClr val="FFF4D8">
                <a:alpha val="9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19088" y="258775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A5B12"/>
                </a:solidFill>
              </a:rPr>
              <a:t>P2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419088" y="309067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조건부 연동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19088" y="35661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Calendar API, Sheets API, Notion API, Slack API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025128" y="2286000"/>
            <a:ext cx="2395728" cy="2651760"/>
          </a:xfrm>
          <a:prstGeom prst="roundRect">
            <a:avLst>
              <a:gd name="adj" fmla="val 1908"/>
            </a:avLst>
          </a:prstGeom>
          <a:solidFill>
            <a:srgbClr val="FFF0ED"/>
          </a:solidFill>
          <a:ln w="12700">
            <a:solidFill>
              <a:srgbClr val="FFF0ED">
                <a:alpha val="9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08008" y="258775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42318"/>
                </a:solidFill>
              </a:rPr>
              <a:t>Watch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208008" y="309067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경쟁 감시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208008" y="35661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ChatGPT, Gemini, Copilot, Zapier, Make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68680" y="5440680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보고서 판단: P0/P1은 제품 UX 설계 영역, P2는 기술 투자 검토 영역, Watch는 전략 감시 영역으로 분리합니다.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164592"/>
            <a:ext cx="11686032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>
                <a:alpha val="92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37744"/>
            <a:ext cx="1005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FlowMe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9144000" y="237744"/>
            <a:ext cx="2468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경쟁 구도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38560" y="6382512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06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03504" y="71323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4ED8"/>
                </a:solidFill>
              </a:rPr>
              <a:t>COMPETITIVE READ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03504" y="969264"/>
            <a:ext cx="7863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경쟁자는 단일 앱이 아니라 사용자가 실행을 끝내는 흐름입니다.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21792" y="1755648"/>
            <a:ext cx="7040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Notion, Forms, Sheets, Todoist, Zapier, AI 앱은 FlowMe의 일부를 대체할 수 있습니다.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914400" y="2148840"/>
            <a:ext cx="9966960" cy="3154680"/>
          </a:xfrm>
          <a:prstGeom prst="roundRect">
            <a:avLst>
              <a:gd name="adj" fmla="val 1449"/>
            </a:avLst>
          </a:prstGeom>
          <a:solidFill>
            <a:srgbClr val="FFFFFF"/>
          </a:solidFill>
          <a:ln w="12700">
            <a:solidFill>
              <a:srgbClr val="D9E2EC">
                <a:alpha val="9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97880" y="2423160"/>
            <a:ext cx="0" cy="2578608"/>
          </a:xfrm>
          <a:prstGeom prst="line">
            <a:avLst/>
          </a:prstGeom>
          <a:noFill/>
          <a:ln w="15240">
            <a:solidFill>
              <a:srgbClr val="D9E2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34440" y="3703320"/>
            <a:ext cx="9326880" cy="0"/>
          </a:xfrm>
          <a:prstGeom prst="line">
            <a:avLst/>
          </a:prstGeom>
          <a:noFill/>
          <a:ln w="15240">
            <a:solidFill>
              <a:srgbClr val="D9E2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5047488"/>
            <a:ext cx="1005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B7280"/>
                </a:solidFill>
              </a:rPr>
              <a:t>낮은 자동화</a:t>
            </a:r>
            <a:endParaRPr lang="en-US" sz="780" dirty="0"/>
          </a:p>
        </p:txBody>
      </p:sp>
      <p:sp>
        <p:nvSpPr>
          <p:cNvPr id="13" name="Text 11"/>
          <p:cNvSpPr/>
          <p:nvPr/>
        </p:nvSpPr>
        <p:spPr>
          <a:xfrm>
            <a:off x="9464040" y="5047488"/>
            <a:ext cx="1005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6B7280"/>
                </a:solidFill>
              </a:rPr>
              <a:t>높은 자동화</a:t>
            </a:r>
            <a:endParaRPr lang="en-US" sz="780" dirty="0"/>
          </a:p>
        </p:txBody>
      </p:sp>
      <p:sp>
        <p:nvSpPr>
          <p:cNvPr id="14" name="Text 12"/>
          <p:cNvSpPr/>
          <p:nvPr/>
        </p:nvSpPr>
        <p:spPr>
          <a:xfrm rot="16200000">
            <a:off x="749808" y="4526280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B7280"/>
                </a:solidFill>
              </a:rPr>
              <a:t>실행 보조</a:t>
            </a:r>
            <a:endParaRPr lang="en-US" sz="780" dirty="0"/>
          </a:p>
        </p:txBody>
      </p:sp>
      <p:sp>
        <p:nvSpPr>
          <p:cNvPr id="15" name="Text 13"/>
          <p:cNvSpPr/>
          <p:nvPr/>
        </p:nvSpPr>
        <p:spPr>
          <a:xfrm rot="16200000">
            <a:off x="749808" y="2423160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B7280"/>
                </a:solidFill>
              </a:rPr>
              <a:t>대체 위협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743200" y="2743200"/>
            <a:ext cx="128016" cy="128016"/>
          </a:xfrm>
          <a:prstGeom prst="ellipse">
            <a:avLst/>
          </a:prstGeom>
          <a:solidFill>
            <a:srgbClr val="9A5B12"/>
          </a:solidFill>
          <a:ln w="12700">
            <a:solidFill>
              <a:srgbClr val="9A5B1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07792" y="2724912"/>
            <a:ext cx="822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11827"/>
                </a:solidFill>
              </a:rPr>
              <a:t>Notion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3566160" y="4297680"/>
            <a:ext cx="128016" cy="128016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30752" y="4279392"/>
            <a:ext cx="822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11827"/>
                </a:solidFill>
              </a:rPr>
              <a:t>Sheets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4389120" y="4114800"/>
            <a:ext cx="128016" cy="128016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53712" y="4096512"/>
            <a:ext cx="822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11827"/>
                </a:solidFill>
              </a:rPr>
              <a:t>Forms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5120640" y="3840480"/>
            <a:ext cx="128016" cy="128016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85232" y="3822192"/>
            <a:ext cx="822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11827"/>
                </a:solidFill>
              </a:rPr>
              <a:t>Todoist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7863840" y="2743200"/>
            <a:ext cx="128016" cy="128016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28432" y="2724912"/>
            <a:ext cx="822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11827"/>
                </a:solidFill>
              </a:rPr>
              <a:t>Zapier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8732520" y="2880360"/>
            <a:ext cx="128016" cy="128016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897112" y="2862072"/>
            <a:ext cx="822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11827"/>
                </a:solidFill>
              </a:rPr>
              <a:t>Make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7498080" y="2240280"/>
            <a:ext cx="128016" cy="128016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62672" y="2221992"/>
            <a:ext cx="822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11827"/>
                </a:solidFill>
              </a:rPr>
              <a:t>ChatGPT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8412480" y="2103120"/>
            <a:ext cx="128016" cy="128016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577072" y="2084832"/>
            <a:ext cx="822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11827"/>
                </a:solidFill>
              </a:rPr>
              <a:t>Gemini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9144000" y="2331720"/>
            <a:ext cx="128016" cy="128016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308592" y="2313432"/>
            <a:ext cx="822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11827"/>
                </a:solidFill>
              </a:rPr>
              <a:t>Copilot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6217920" y="4160520"/>
            <a:ext cx="128016" cy="128016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82512" y="4142232"/>
            <a:ext cx="822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11827"/>
                </a:solidFill>
              </a:rPr>
              <a:t>Slack/Teams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960120" y="5650992"/>
            <a:ext cx="987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827"/>
                </a:solidFill>
              </a:rPr>
              <a:t>FlowMe 차별점: 출처 기반 콘텐츠를 사용자가 바로 실행할 수 있는 캘린더·체크·표·공유 산출물로 바꾼다.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164592"/>
            <a:ext cx="11686032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>
                <a:alpha val="92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37744"/>
            <a:ext cx="1005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FlowMe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9144000" y="237744"/>
            <a:ext cx="2468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 전략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38560" y="6382512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07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03504" y="71323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4ED8"/>
                </a:solidFill>
              </a:rPr>
              <a:t>CONNECTION STRATEGY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03504" y="969264"/>
            <a:ext cx="7863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연동 개발은 마지막 카드입니다.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21792" y="1755648"/>
            <a:ext cx="7040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먼저 목적지별 산출물 품질을 높이고, 그 다음 공식 API와 권한 투자를 검토합니다.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77240" y="2514600"/>
            <a:ext cx="2331720" cy="2103120"/>
          </a:xfrm>
          <a:prstGeom prst="roundRect">
            <a:avLst>
              <a:gd name="adj" fmla="val 2174"/>
            </a:avLst>
          </a:prstGeom>
          <a:solidFill>
            <a:srgbClr val="E8F7EF"/>
          </a:solidFill>
          <a:ln w="12700">
            <a:solidFill>
              <a:srgbClr val="E8F7EF">
                <a:alpha val="9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78408" y="2788920"/>
            <a:ext cx="822960" cy="21945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2839212"/>
            <a:ext cx="73152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47857"/>
                </a:solidFill>
              </a:rPr>
              <a:t>지금</a:t>
            </a:r>
            <a:endParaRPr lang="en-US" sz="680" dirty="0"/>
          </a:p>
        </p:txBody>
      </p:sp>
      <p:sp>
        <p:nvSpPr>
          <p:cNvPr id="12" name="Text 10"/>
          <p:cNvSpPr/>
          <p:nvPr/>
        </p:nvSpPr>
        <p:spPr>
          <a:xfrm>
            <a:off x="978408" y="324612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내보내기 품질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78408" y="373075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ICS, CSV, Markdown, 공유 문구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27832" y="3310128"/>
            <a:ext cx="237744" cy="310896"/>
          </a:xfrm>
          <a:prstGeom prst="chevron">
            <a:avLst/>
          </a:prstGeom>
          <a:solidFill>
            <a:srgbClr val="D9E2E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66160" y="2514600"/>
            <a:ext cx="2331720" cy="2103120"/>
          </a:xfrm>
          <a:prstGeom prst="roundRect">
            <a:avLst>
              <a:gd name="adj" fmla="val 2174"/>
            </a:avLst>
          </a:prstGeom>
          <a:solidFill>
            <a:srgbClr val="EAF2FF"/>
          </a:solidFill>
          <a:ln w="12700">
            <a:solidFill>
              <a:srgbClr val="EAF2FF">
                <a:alpha val="9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67328" y="2788920"/>
            <a:ext cx="822960" cy="21945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13048" y="2839212"/>
            <a:ext cx="73152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1D4ED8"/>
                </a:solidFill>
              </a:rPr>
              <a:t>다음</a:t>
            </a:r>
            <a:endParaRPr lang="en-US" sz="680" dirty="0"/>
          </a:p>
        </p:txBody>
      </p:sp>
      <p:sp>
        <p:nvSpPr>
          <p:cNvPr id="18" name="Text 16"/>
          <p:cNvSpPr/>
          <p:nvPr/>
        </p:nvSpPr>
        <p:spPr>
          <a:xfrm>
            <a:off x="3767328" y="324612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목적지 템플릿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767328" y="373075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Forms 질문, Slack 메시지, 게시 패킷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016752" y="3310128"/>
            <a:ext cx="237744" cy="310896"/>
          </a:xfrm>
          <a:prstGeom prst="chevron">
            <a:avLst/>
          </a:prstGeom>
          <a:solidFill>
            <a:srgbClr val="D9E2E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55080" y="2514600"/>
            <a:ext cx="2331720" cy="2103120"/>
          </a:xfrm>
          <a:prstGeom prst="roundRect">
            <a:avLst>
              <a:gd name="adj" fmla="val 2174"/>
            </a:avLst>
          </a:prstGeom>
          <a:solidFill>
            <a:srgbClr val="FFF4D8"/>
          </a:solidFill>
          <a:ln w="12700">
            <a:solidFill>
              <a:srgbClr val="FFF4D8">
                <a:alpha val="9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56248" y="2788920"/>
            <a:ext cx="822960" cy="21945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01968" y="2839212"/>
            <a:ext cx="73152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9A5B12"/>
                </a:solidFill>
              </a:rPr>
              <a:t>조건 충족 뒤</a:t>
            </a:r>
            <a:endParaRPr lang="en-US" sz="680" dirty="0"/>
          </a:p>
        </p:txBody>
      </p:sp>
      <p:sp>
        <p:nvSpPr>
          <p:cNvPr id="24" name="Text 22"/>
          <p:cNvSpPr/>
          <p:nvPr/>
        </p:nvSpPr>
        <p:spPr>
          <a:xfrm>
            <a:off x="6556248" y="324612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공식 API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556248" y="373075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Calendar, Sheets, Notion, Todoist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805672" y="3310128"/>
            <a:ext cx="237744" cy="310896"/>
          </a:xfrm>
          <a:prstGeom prst="chevron">
            <a:avLst/>
          </a:prstGeom>
          <a:solidFill>
            <a:srgbClr val="D9E2E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144000" y="2514600"/>
            <a:ext cx="2331720" cy="2103120"/>
          </a:xfrm>
          <a:prstGeom prst="roundRect">
            <a:avLst>
              <a:gd name="adj" fmla="val 2174"/>
            </a:avLst>
          </a:prstGeom>
          <a:solidFill>
            <a:srgbClr val="FFF0ED"/>
          </a:solidFill>
          <a:ln w="12700">
            <a:solidFill>
              <a:srgbClr val="FFF0ED">
                <a:alpha val="9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345168" y="2788920"/>
            <a:ext cx="822960" cy="21945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390888" y="2839212"/>
            <a:ext cx="73152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B42318"/>
                </a:solidFill>
              </a:rPr>
              <a:t>보류</a:t>
            </a:r>
            <a:endParaRPr lang="en-US" sz="680" dirty="0"/>
          </a:p>
        </p:txBody>
      </p:sp>
      <p:sp>
        <p:nvSpPr>
          <p:cNvPr id="30" name="Text 28"/>
          <p:cNvSpPr/>
          <p:nvPr/>
        </p:nvSpPr>
        <p:spPr>
          <a:xfrm>
            <a:off x="9345168" y="324612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자동화·봇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345168" y="373075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자동 게시, 웹훅, 응답 가져오기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60120" y="5257800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API는 목표가 아니라 증폭 장치입니다. 사용자가 어떤 목적지로 보내는지 확인된 뒤에만 투자합니다.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164592"/>
            <a:ext cx="11686032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>
                <a:alpha val="92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37744"/>
            <a:ext cx="1005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FlowMe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9144000" y="237744"/>
            <a:ext cx="2468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의사결정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38560" y="6382512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08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03504" y="71323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4ED8"/>
                </a:solidFill>
              </a:rPr>
              <a:t>EXECUTIVE DECISION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03504" y="969264"/>
            <a:ext cx="7863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이번 보고서의 결론은 세 가지입니다.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21792" y="1755648"/>
            <a:ext cx="7040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연결 후보를 넓게 보되, 제품화 순서는 내보내기 → 템플릿 → API → 자동화로 제한합니다.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58368" y="2148840"/>
            <a:ext cx="521208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D9E2EC">
                <a:alpha val="9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7824" y="2313432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4ED8"/>
                </a:solidFill>
              </a:rPr>
              <a:t>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25880" y="2267712"/>
            <a:ext cx="3474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외부 생태계 지도는 6개 축으로 관리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325880" y="2514600"/>
            <a:ext cx="3840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앱 이름 목록이 아니라 역할 지도와 후보 압축표가 기준입니다.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58368" y="3081528"/>
            <a:ext cx="521208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D9E2EC">
                <a:alpha val="9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7824" y="3246120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4ED8"/>
                </a:solidFill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25880" y="3200400"/>
            <a:ext cx="3474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P0는 내보내기와 공유 산출물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325880" y="3447288"/>
            <a:ext cx="3840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캘린더, 시트, 문서, 카카오톡/커뮤니티용 결과물을 먼저 강화합니다.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58368" y="4014216"/>
            <a:ext cx="521208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D9E2EC">
                <a:alpha val="9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7824" y="4178808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4ED8"/>
                </a:solidFill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325880" y="4133088"/>
            <a:ext cx="3474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API·봇·자동화는 조건부 투자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325880" y="4379976"/>
            <a:ext cx="3840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OAuth, 토큰 저장, 자동 게시, 응답 가져오기는 후순위입니다.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309360" y="1965960"/>
            <a:ext cx="4754880" cy="2926080"/>
          </a:xfrm>
          <a:prstGeom prst="roundRect">
            <a:avLst>
              <a:gd name="adj" fmla="val 1563"/>
            </a:avLst>
          </a:prstGeom>
          <a:solidFill>
            <a:srgbClr val="FFFFFF"/>
          </a:solidFill>
          <a:ln w="12700">
            <a:solidFill>
              <a:srgbClr val="D9E2EC">
                <a:alpha val="9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65392" y="2212848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대표 근거 출처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565392" y="2660904"/>
            <a:ext cx="64008" cy="64008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93408" y="260604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374151"/>
                </a:solidFill>
              </a:rPr>
              <a:t>Kakao Developers · KakaoTalk Share</a:t>
            </a:r>
            <a:endParaRPr lang="en-US" sz="860" dirty="0"/>
          </a:p>
        </p:txBody>
      </p:sp>
      <p:sp>
        <p:nvSpPr>
          <p:cNvPr id="25" name="Shape 23"/>
          <p:cNvSpPr/>
          <p:nvPr/>
        </p:nvSpPr>
        <p:spPr>
          <a:xfrm>
            <a:off x="6565392" y="2953512"/>
            <a:ext cx="64008" cy="64008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93408" y="2898648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374151"/>
                </a:solidFill>
              </a:rPr>
              <a:t>Google Developers · Calendar / Forms</a:t>
            </a:r>
            <a:endParaRPr lang="en-US" sz="860" dirty="0"/>
          </a:p>
        </p:txBody>
      </p:sp>
      <p:sp>
        <p:nvSpPr>
          <p:cNvPr id="27" name="Shape 25"/>
          <p:cNvSpPr/>
          <p:nvPr/>
        </p:nvSpPr>
        <p:spPr>
          <a:xfrm>
            <a:off x="6565392" y="3246120"/>
            <a:ext cx="64008" cy="64008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93408" y="3191256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374151"/>
                </a:solidFill>
              </a:rPr>
              <a:t>Microsoft Learn · Graph / Teams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6565392" y="3538728"/>
            <a:ext cx="64008" cy="64008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93408" y="3483864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374151"/>
                </a:solidFill>
              </a:rPr>
              <a:t>Notion Developers · API overview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6565392" y="3831336"/>
            <a:ext cx="64008" cy="64008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93408" y="377647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374151"/>
                </a:solidFill>
              </a:rPr>
              <a:t>Slack / Discord developer docs</a:t>
            </a:r>
            <a:endParaRPr lang="en-US" sz="860" dirty="0"/>
          </a:p>
        </p:txBody>
      </p:sp>
      <p:sp>
        <p:nvSpPr>
          <p:cNvPr id="33" name="Shape 31"/>
          <p:cNvSpPr/>
          <p:nvPr/>
        </p:nvSpPr>
        <p:spPr>
          <a:xfrm>
            <a:off x="6565392" y="4123944"/>
            <a:ext cx="64008" cy="64008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93408" y="406908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374151"/>
                </a:solidFill>
              </a:rPr>
              <a:t>Zapier / Typeform / Todoist / Airtable docs</a:t>
            </a:r>
            <a:endParaRPr lang="en-US" sz="860" dirty="0"/>
          </a:p>
        </p:txBody>
      </p:sp>
      <p:sp>
        <p:nvSpPr>
          <p:cNvPr id="35" name="Text 33"/>
          <p:cNvSpPr/>
          <p:nvPr/>
        </p:nvSpPr>
        <p:spPr>
          <a:xfrm>
            <a:off x="6565392" y="4498848"/>
            <a:ext cx="3291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B7280"/>
                </a:solidFill>
              </a:rPr>
              <a:t>세부 출처 링크는 HTML 근거 문서에 보관했습니다.</a:t>
            </a:r>
            <a:endParaRPr lang="en-US" sz="820" dirty="0"/>
          </a:p>
        </p:txBody>
      </p:sp>
      <p:sp>
        <p:nvSpPr>
          <p:cNvPr id="36" name="Text 34"/>
          <p:cNvSpPr/>
          <p:nvPr/>
        </p:nvSpPr>
        <p:spPr>
          <a:xfrm>
            <a:off x="603504" y="6419088"/>
            <a:ext cx="9875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6B7280"/>
                </a:solidFill>
              </a:rPr>
              <a:t>Companion HTML: docs/content-audit/2026-06-12-flowme-external-ecosystem-map-v2-ko.html</a:t>
            </a:r>
            <a:endParaRPr lang="en-US" sz="6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FlowMe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FlowMe 외부 생태계 지도 v2</dc:title>
  <dc:subject>FlowMe external ecosystem map</dc:subject>
  <dc:creator>FlowMe</dc:creator>
  <cp:lastModifiedBy>FlowMe</cp:lastModifiedBy>
  <cp:revision>1</cp:revision>
  <dcterms:created xsi:type="dcterms:W3CDTF">2026-06-12T01:40:31Z</dcterms:created>
  <dcterms:modified xsi:type="dcterms:W3CDTF">2026-06-12T01:40:31Z</dcterms:modified>
</cp:coreProperties>
</file>