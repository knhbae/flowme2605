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D:/flowme2605/flow-mvp/docs/PRODUCT_PRINCIPLES.md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https://help.reclaim.ai/en/articles/14846468-reclaim-ai-2-0-overview
- https://www.usemotion.com/help/time-management/auto-scheduling
- https://support.google.com/gemini/answer/15305236
- https://support.microsoft.com/en-us/planner/what-can-you-do-with-planner-agent-in-copilot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https://www.todoist.com/help/articles/turn-your-scattered-thoughts-into-clear-tasks-ramble-jan-21-HhmP8ue8R
- https://www.usemotion.com/help/knowledge-management/ai-chat
- https://support.apple.com/guide/iphone/use-apple-intelligence-in-reminders-iphcb580b580/26/ios/26
- https://www.notion.com/en-US/product/ai-meeting-notes
- https://www.sunsama.com/features/timeboxing
- https://help.reclaim.ai/en/articles/14846468-reclaim-ai-2-0-overview
- https://support.google.com/gemini/answer/17094710
- https://support.microsoft.com/en-US/Outlook/calendar-instructions-in-outlook-and-copilot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https://www.usemotion.com/help/time-management/auto-scheduling
- https://help.reclaim.ai/en/articles/14846468-reclaim-ai-2-0-overview
- https://www.sunsama.com/features/timeboxing
- https://product.akiflow.com/en/help/articles/3161671-schedule-optimizer
- https://www.todoist.com/help/articles/introduction-to-todoist-assist-KgPP22q5O
- https://support.google.com/gemini/answer/15305236
- https://support.microsoft.com/en-US/Outlook/calendar-instructions-in-outlook-and-copilot
- https://support.apple.com/guide/iphone/use-apple-intelligence-in-reminders-iphcb580b580/26/ios/26
- https://www.notion.com/help/connect-calendar-to-custom-agents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https://www.usemotion.com/features/ai-calendar
- Asset captured from official Motion page on 2026-07-30: D:\flowme2605\flow-mvp\output\playwright\ai-calendar-report-2026-07-30\motion-section.png
- https://help.reclaim.ai/en/articles/14846468-reclaim-ai-2-0-overview
- Asset captured from official Reclaim page on 2026-07-30: D:\flowme2605\flow-mvp\output\playwright\ai-calendar-report-2026-07-30\reclaim-assistant-full.png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https://support.apple.com/en-ie/124025
- Asset captured from official Apple support page on 2026-07-30: D:\flowme2605\flow-mvp\output\playwright\ai-calendar-report-2026-07-30\agent-assets\apple-intelligence-suggested-reminders.png
- https://support.microsoft.com/en-us/office/automatically-reschedule-events-with-copilot-in-microsoft-outlook-and-microsoft-teams
- Asset captured from official Microsoft support page on 2026-07-30: D:\flowme2605\flow-mvp\output\playwright\ai-calendar-report-2026-07-30\agent-assets\microsoft-copilot-reschedule-preferences.png
- https://www.notion.com/product/ai-meeting-notes
- Asset captured from official Notion product page on 2026-07-30: D:\flowme2605\flow-mvp\output\playwright\ai-calendar-report-2026-07-30\agent-assets\notion-ai-meeting-notes-summary.png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https://getclockwise.com/
- https://status.getclockwise.com/
- https://support.getclockwise.com/article/184-flexible-meetings
- Vendor-reported cumulative figures; not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https://support.apple.com/guide/iphone/use-apple-intelligence-in-reminders-iphcb580b580/26/ios/26
- https://www.todoist.com/help/articles/turn-your-scattered-thoughts-into-clear-tasks-ramble-jan-21-HhmP8ue8R
- https://www.sunsama.com/features/timeboxing
- https://product.akiflow.com/en/help/articles/3161671-schedule-optimizer
- https://help.reclaim.ai/en/articles/14846468-reclaim-ai-2-0-overview
- https://www.usemotion.com/help/time-management/auto-scheduling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https://www.usemotion.com/help/time-management/auto-scheduling
- https://www.usemotion.com/help/project-management/task/reference-tasks/the-difference-between-tasks-and-events-in-motion
- https://www.sunsama.com/features/timeboxing
- D:/flowme2605/flow-mvp/docs/DECISIONS.md
- D:/flowme2605/flow-mvp/docs/specs/2026-07-29-flow-projection-semantics-scheduling-event-corpus-v1/user-pacing-schedule-contract-v1.json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https://www.notion.com/en-US/product/ai-meeting-notes
- https://help.reclaim.ai/en/articles/14846468-reclaim-ai-2-0-overview
- https://support.google.com/gemini/answer/17094710
- https://support.microsoft.com/en-US/Outlook/calendar-instructions-in-outlook-and-copilot
- D:/flowme2605/flow-mvp/docs/PRODUCT_PRINCIPLES.md
- D:/flowme2605/flow-mvp/docs/DECISIONS.md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D:/flowme2605/flow-mvp/docs/specs/2026-07-29-flow-projection-semantics-scheduling-event-corpus-v1/user-pacing-schedule-contract-v1.json
- D:/flowme2605/flow-mvp/docs/specs/2026-07-27-flow-item-map-architecture-creator-portfolio-category-fit-lab-v1/fixtures/canonical/bundle-moving-d30.json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D:/flowme2605/flow-mvp/docs/specs/2026-07-29-flow-projection-semantics-scheduling-event-corpus-v1/user-pacing-schedule-contract-v1.json
- D:/flowme2605/flow-mvp/docs/specs/2026-07-27-flow-item-map-architecture-creator-portfolio-category-fit-lab-v1/fixtures/canonical/bundle-opic-plan.json
- D:/flowme2605/flow-mvp/docs/content-audit/2026-07-30-ai-calendar-task-scheduling-research-source-ledger-ko.md
- UI shown is a strategy prototype, not a production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D:/flowme2605/flow-mvp/docs/specs/2026-07-27-flow-item-map-architecture-creator-portfolio-category-fit-lab-v1/fixtures/canonical/bundle-moving-d30.json
- D:/flowme2605/flow-mvp/docs/specs/2026-07-27-flow-item-map-architecture-creator-portfolio-category-fit-lab-v1/fixtures/ics/canonical-compact/bundle-moving-d30.ics
- D:/flowme2605/flow-mvp/docs/content-audit/2026-07-30-ai-calendar-task-scheduling-research-source-ledger-ko.md
- UI shown is a strategy prototype, not a production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D:/flowme2605/flow-mvp/docs/SERVICE_STRUCTURE.md
- D:/flowme2605/flow-mvp/docs/DECISIONS.md
- D:/flowme2605/flow-mvp/docs/content-audit/2026-07-30-ai-calendar-task-scheduling-research-source-ledger-ko.md
- UI shown is a strategy prototype, not a production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D:/flowme2605/flow-mvp/docs/content-audit/2026-07-29-p35-r13-final-internal-gate/README.md
- FlowMe screenshot: D:\flowme2605\flow-mvp\docs\content-audit\2026-07-29-p35-r13-final-internal-gate\screenshots\p35-r13-b-date-groups-1440.png
- D:/flowme2605/flow-mvp/docs/specs/2026-07-29-flow-projection-semantics-scheduling-event-corpus-v1/architecture-comparison-v1.json
- D:/flowme2605/flow-mvp/docs/specs/2026-07-29-flow-projection-semantics-scheduling-event-corpus-v1/validation-results-v1.json
- D:/flowme2605/flow-mvp/docs/specs/2026-07-29-flow-projection-semantics-scheduling-event-corpus-v1/classification-comparison-v1.json
- D:/flowme2605/flow-mvp/docs/STATUS.md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D:/flowme2605/flow-mvp/docs/PRODUCT_PRINCIPLES.md
- D:/flowme2605/flow-mvp/docs/DECISIONS.md
- D:/flowme2605/flow-mvp/docs/SERVICE_STRUCTURE.md
- D:/flowme2605/flow-mvp/docs/content-audit/2026-07-30-ai-calendar-task-scheduling-research-source-ledger-ko.md
- https://getclockwise.com/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D:/flowme2605/flow-mvp/docs/STATUS.md
- Sample sizes and success thresholds are proposed decision gates, not observed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D:/flowme2605/flow-mvp/docs/STATUS.md
- D:/flowme2605/flow-mvp/docs/SERVICE_STRUCTURE.md
- Roadmap duration and 24-round-trip gate are proposed planning constraints, not completed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D:/flowme2605/flow-mvp/docs/content-audit/2026-07-30-ai-calendar-task-scheduling-research-source-ledger-ko.md
- D:/flowme2605/flow-mvp/docs/PRODUCT_PRINCIPLES.md
- D:/flowme2605/flow-mvp/docs/STATUS.md
- Final recommendation is an inference from the cited market research and current FlowMe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6446520"/>
            <a:ext cx="11402568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· AI SCHEDULING STRATEGY · 2026.07.30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STRATEGY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321040" y="329184"/>
            <a:ext cx="3456432" cy="310896"/>
          </a:xfrm>
          <a:prstGeom prst="roundRect">
            <a:avLst>
              <a:gd name="adj" fmla="val 52941"/>
            </a:avLst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94192" y="347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 기준 · 공식 출처 10개 제품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1430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일정관리의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승부처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2980944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캘린더를 대신 조작하는 것이 아니라,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콘텐츠를 출처가 보존된 실행 일정으로 바꾸는 것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9520" y="1207008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3564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249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35640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871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8356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835640" y="3456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 + RECEIPT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57150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→ 제품 경계 → 3개 사용자 여정 → 수치형 실험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ANSWER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범용 AI 캘린더는 이미 붐빈다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FlowMe가 소유해야 할 빈칸은 ‘원본 콘텐츠 → 실행 가능한 일정 후보 → 안전한 외부 이동’이다.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581912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" y="170992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2295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맥락→action을 명확히 지원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99816" y="1581912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4408" y="170992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2295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Preview·승인·Undo 명시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88152" y="1581912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52744" y="170992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952744" y="2295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자동 재스케줄 명확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76488" y="1581912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17099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295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우선 검증 실험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32552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평준화됐다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4224528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채팅·음성·이메일·회의에서 task를 만드는 기능은 기본 기대치다.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3063240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07408" y="32552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07408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신뢰는 diff에서 생긴다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4224528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→ 편집 → 승인 → 적용 → receipt/undo가 시장의 안전 계약으로 수렴한다.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3063240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02168" y="325526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02168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FlowMe는 source를 보존한다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202168" y="4224528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 개인 일정의 경계를 보존하며 Calendar·Todo·Sheet·Memo로 보낸다.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5715000"/>
            <a:ext cx="713232" cy="310896"/>
          </a:xfrm>
          <a:prstGeom prst="roundRect">
            <a:avLst>
              <a:gd name="adj" fmla="val 52941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" y="5733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568756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AI 일정 slice는 ‘Study pacing preview’ 하나로 제한하고, 외부 캘린더 직접 쓰기는 round-trip 근거 뒤로 둔다.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EVOLUTION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발전은 ‘생성’보다 ‘계속 살아 있는 실행 루프’다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아래는 출시 연도가 아니라 2026년 7월 현재 기능 성숙도를 설명하는 4단계다.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1051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40864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Capture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07792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채팅·음성으로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/ Event 생성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3913632"/>
            <a:ext cx="2103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409651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Todoist Ramble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 AI Chat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64408" y="160020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5576" y="181051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38728" y="18288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2340864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2907792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이메일·회의·문서에서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action과 날짜 추출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65576" y="3913632"/>
            <a:ext cx="2103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65576" y="409651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Suggestions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 Meeting Notes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43016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17336" y="160020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18504" y="181051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18288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18504" y="2340864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2907792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duration·deadline·priority로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배치·재계획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18504" y="3913632"/>
            <a:ext cx="2103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18504" y="409651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Sunsama Projection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 / Reclaim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695944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970264" y="160020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71432" y="181051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44584" y="18288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2340864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loop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171432" y="2907792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→ diff → 승인 →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→ history / undo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71432" y="3913632"/>
            <a:ext cx="2103120" cy="0"/>
          </a:xfrm>
          <a:prstGeom prst="line">
            <a:avLst/>
          </a:prstGeom>
          <a:noFill/>
          <a:ln w="12700">
            <a:solidFill>
              <a:srgbClr val="3A41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71432" y="409651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Spark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/ Notion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5413248"/>
            <a:ext cx="11338560" cy="667512"/>
          </a:xfrm>
          <a:prstGeom prst="roundRect">
            <a:avLst>
              <a:gd name="adj" fmla="val 1095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5559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755648" y="5522976"/>
            <a:ext cx="9656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겉은 대화형 AI지만, 실행 품질은 Task/Event 의미·제약 필드·검토 가능한 변경안이 결정한다.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 MATRIX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자연어·추출은 기본, 지속 자동 재계획은 아직 소수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운영 9개 제품을 공식 문서로 보수적으로 코딩했다. Y=명확, P=제한적·수동·설정형, N=공식 범위에서 확인 안 됨.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527048"/>
            <a:ext cx="1664208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63624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75688" y="1527048"/>
            <a:ext cx="1938528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156362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맥락→action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14216" y="1527048"/>
            <a:ext cx="1938528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9936" y="156362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생성·수정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52744" y="1527048"/>
            <a:ext cx="1938528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98464" y="156362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승인·Undo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91272" y="1527048"/>
            <a:ext cx="1938528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156362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자동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829800" y="1527048"/>
            <a:ext cx="1920240" cy="484632"/>
          </a:xfrm>
          <a:prstGeom prst="roundRect">
            <a:avLst>
              <a:gd name="adj" fmla="val 1887"/>
            </a:avLst>
          </a:prstGeom>
          <a:solidFill>
            <a:srgbClr val="0B0D12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0" y="156362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일정·이벤트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agent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011680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204825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2075688" y="201168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9696" y="204825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14216" y="201168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78224" y="204825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52744" y="201168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16752" y="204825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91272" y="201168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204825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2011680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93808" y="204825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2395728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" y="2432304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Reclaim 2.0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2075688" y="239572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39696" y="243230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14216" y="239572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78224" y="243230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52744" y="239572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16752" y="243230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91272" y="239572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55280" y="243230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29800" y="2395728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893808" y="2432304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2779776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5488" y="2816352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Sunsama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2075688" y="277977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39696" y="28163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014216" y="277977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78224" y="28163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52744" y="277977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16752" y="28163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91272" y="277977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55280" y="28163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29800" y="2779776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93808" y="2816352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3163824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5488" y="3200400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Akiflow</a:t>
            </a:r>
            <a:endParaRPr lang="en-US" sz="970" dirty="0"/>
          </a:p>
        </p:txBody>
      </p:sp>
      <p:sp>
        <p:nvSpPr>
          <p:cNvPr id="55" name="Shape 53"/>
          <p:cNvSpPr/>
          <p:nvPr/>
        </p:nvSpPr>
        <p:spPr>
          <a:xfrm>
            <a:off x="2075688" y="316382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39696" y="3200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014216" y="316382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78224" y="3200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952744" y="316382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16752" y="3200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91272" y="316382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55280" y="3200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829800" y="3163824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893808" y="3200400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11480" y="3547872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75488" y="3584448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Todoist</a:t>
            </a:r>
            <a:endParaRPr lang="en-US" sz="970" dirty="0"/>
          </a:p>
        </p:txBody>
      </p:sp>
      <p:sp>
        <p:nvSpPr>
          <p:cNvPr id="67" name="Shape 65"/>
          <p:cNvSpPr/>
          <p:nvPr/>
        </p:nvSpPr>
        <p:spPr>
          <a:xfrm>
            <a:off x="2075688" y="3547872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139696" y="358444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014216" y="3547872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078224" y="358444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952744" y="3547872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016752" y="358444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91272" y="3547872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955280" y="358444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829800" y="3547872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893808" y="3584448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11480" y="3931920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75488" y="396849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</a:t>
            </a:r>
            <a:endParaRPr lang="en-US" sz="970" dirty="0"/>
          </a:p>
        </p:txBody>
      </p:sp>
      <p:sp>
        <p:nvSpPr>
          <p:cNvPr id="79" name="Shape 77"/>
          <p:cNvSpPr/>
          <p:nvPr/>
        </p:nvSpPr>
        <p:spPr>
          <a:xfrm>
            <a:off x="2075688" y="393192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139696" y="396849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014216" y="393192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078224" y="396849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952744" y="393192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016752" y="396849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891272" y="3931920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955280" y="396849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9829800" y="3931920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893808" y="396849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411480" y="4315968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75488" y="4352544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</a:t>
            </a:r>
            <a:endParaRPr lang="en-US" sz="970" dirty="0"/>
          </a:p>
        </p:txBody>
      </p:sp>
      <p:sp>
        <p:nvSpPr>
          <p:cNvPr id="91" name="Shape 89"/>
          <p:cNvSpPr/>
          <p:nvPr/>
        </p:nvSpPr>
        <p:spPr>
          <a:xfrm>
            <a:off x="2075688" y="431596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139696" y="4352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014216" y="431596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078224" y="4352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5952744" y="431596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016752" y="4352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7891272" y="4315968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955280" y="4352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9829800" y="4315968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893808" y="4352544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411480" y="4700016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75488" y="4736592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</a:t>
            </a:r>
            <a:endParaRPr lang="en-US" sz="970" dirty="0"/>
          </a:p>
        </p:txBody>
      </p:sp>
      <p:sp>
        <p:nvSpPr>
          <p:cNvPr id="103" name="Shape 101"/>
          <p:cNvSpPr/>
          <p:nvPr/>
        </p:nvSpPr>
        <p:spPr>
          <a:xfrm>
            <a:off x="2075688" y="470001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139696" y="473659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014216" y="470001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078224" y="473659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5952744" y="470001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016752" y="473659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891272" y="4700016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955280" y="473659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9829800" y="4700016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893808" y="4736592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411480" y="5084064"/>
            <a:ext cx="1664208" cy="38404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75488" y="5120640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</a:t>
            </a:r>
            <a:endParaRPr lang="en-US" sz="970" dirty="0"/>
          </a:p>
        </p:txBody>
      </p:sp>
      <p:sp>
        <p:nvSpPr>
          <p:cNvPr id="115" name="Shape 113"/>
          <p:cNvSpPr/>
          <p:nvPr/>
        </p:nvSpPr>
        <p:spPr>
          <a:xfrm>
            <a:off x="2075688" y="508406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2139696" y="512064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4014216" y="508406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078224" y="512064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5952744" y="508406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016752" y="512064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7891272" y="5084064"/>
            <a:ext cx="1938528" cy="384048"/>
          </a:xfrm>
          <a:prstGeom prst="roundRect">
            <a:avLst>
              <a:gd name="adj" fmla="val 2381"/>
            </a:avLst>
          </a:prstGeom>
          <a:solidFill>
            <a:srgbClr val="FFF4DD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955280" y="512064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9829800" y="5084064"/>
            <a:ext cx="1920240" cy="384048"/>
          </a:xfrm>
          <a:prstGeom prst="roundRect">
            <a:avLst>
              <a:gd name="adj" fmla="val 2381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893808" y="5120640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050" dirty="0"/>
          </a:p>
        </p:txBody>
      </p:sp>
      <p:sp>
        <p:nvSpPr>
          <p:cNvPr id="125" name="Text 123"/>
          <p:cNvSpPr txBox="1"/>
          <p:nvPr/>
        </p:nvSpPr>
        <p:spPr>
          <a:xfrm>
            <a:off x="411480" y="591616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맥락→action</a:t>
            </a:r>
            <a:endParaRPr lang="en-US" sz="950" dirty="0"/>
          </a:p>
        </p:txBody>
      </p:sp>
      <p:sp>
        <p:nvSpPr>
          <p:cNvPr id="126" name="Text 124"/>
          <p:cNvSpPr txBox="1"/>
          <p:nvPr/>
        </p:nvSpPr>
        <p:spPr>
          <a:xfrm>
            <a:off x="1554480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8Y / 1P</a:t>
            </a:r>
            <a:endParaRPr lang="en-US" sz="1150" dirty="0"/>
          </a:p>
        </p:txBody>
      </p:sp>
      <p:sp>
        <p:nvSpPr>
          <p:cNvPr id="127" name="Text 125"/>
          <p:cNvSpPr txBox="1"/>
          <p:nvPr/>
        </p:nvSpPr>
        <p:spPr>
          <a:xfrm>
            <a:off x="2688336" y="591616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</a:t>
            </a:r>
            <a:endParaRPr lang="en-US" sz="950" dirty="0"/>
          </a:p>
        </p:txBody>
      </p:sp>
      <p:sp>
        <p:nvSpPr>
          <p:cNvPr id="128" name="Text 126"/>
          <p:cNvSpPr txBox="1"/>
          <p:nvPr/>
        </p:nvSpPr>
        <p:spPr>
          <a:xfrm>
            <a:off x="3831336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8Y / 1P</a:t>
            </a:r>
            <a:endParaRPr lang="en-US" sz="1150" dirty="0"/>
          </a:p>
        </p:txBody>
      </p:sp>
      <p:sp>
        <p:nvSpPr>
          <p:cNvPr id="129" name="Text 127"/>
          <p:cNvSpPr txBox="1"/>
          <p:nvPr/>
        </p:nvSpPr>
        <p:spPr>
          <a:xfrm>
            <a:off x="4965192" y="591616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검토·Undo</a:t>
            </a:r>
            <a:endParaRPr lang="en-US" sz="950" dirty="0"/>
          </a:p>
        </p:txBody>
      </p:sp>
      <p:sp>
        <p:nvSpPr>
          <p:cNvPr id="130" name="Text 128"/>
          <p:cNvSpPr txBox="1"/>
          <p:nvPr/>
        </p:nvSpPr>
        <p:spPr>
          <a:xfrm>
            <a:off x="6108192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7Y / 2P</a:t>
            </a:r>
            <a:endParaRPr lang="en-US" sz="1150" dirty="0"/>
          </a:p>
        </p:txBody>
      </p:sp>
      <p:sp>
        <p:nvSpPr>
          <p:cNvPr id="131" name="Text 129"/>
          <p:cNvSpPr txBox="1"/>
          <p:nvPr/>
        </p:nvSpPr>
        <p:spPr>
          <a:xfrm>
            <a:off x="7242048" y="591616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재계획</a:t>
            </a:r>
            <a:endParaRPr lang="en-US" sz="950" dirty="0"/>
          </a:p>
        </p:txBody>
      </p:sp>
      <p:sp>
        <p:nvSpPr>
          <p:cNvPr id="132" name="Text 130"/>
          <p:cNvSpPr txBox="1"/>
          <p:nvPr/>
        </p:nvSpPr>
        <p:spPr>
          <a:xfrm>
            <a:off x="8385048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2Y / 4P / 3N</a:t>
            </a:r>
            <a:endParaRPr lang="en-US" sz="1150" dirty="0"/>
          </a:p>
        </p:txBody>
      </p:sp>
      <p:sp>
        <p:nvSpPr>
          <p:cNvPr id="133" name="Text 131"/>
          <p:cNvSpPr txBox="1"/>
          <p:nvPr/>
        </p:nvSpPr>
        <p:spPr>
          <a:xfrm>
            <a:off x="9518904" y="591616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950" dirty="0"/>
          </a:p>
        </p:txBody>
      </p:sp>
      <p:sp>
        <p:nvSpPr>
          <p:cNvPr id="134" name="Text 132"/>
          <p:cNvSpPr txBox="1"/>
          <p:nvPr/>
        </p:nvSpPr>
        <p:spPr>
          <a:xfrm>
            <a:off x="10661904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5Y / 1P / 3N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UI · AUTOPILOT VS PREVIEW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‘AI 일정’도 통제 계약은 다르다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Motion은 지속 최적화를 전면에, Reclaim 2.0은 Preview Mode와 Assistant를 전면에 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5468112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6" name="Image 0" descr="D:\flowme2605\flow-mvp\output\playwright\ai-calendar-report-2026-07-30\motion-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90472"/>
            <a:ext cx="5413248" cy="3758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91072" y="1463040"/>
            <a:ext cx="546811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8" name="Image 1" descr="D:\flowme2605\flow-mvp\output\playwright\ai-calendar-report-2026-07-30\reclaim-assistan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490472"/>
            <a:ext cx="5413248" cy="34655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91640"/>
            <a:ext cx="896112" cy="310896"/>
          </a:xfrm>
          <a:prstGeom prst="roundRect">
            <a:avLst>
              <a:gd name="adj" fmla="val 52941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1709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547104" y="1691640"/>
            <a:ext cx="124358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0256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RECLAIM 2.0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5404104"/>
            <a:ext cx="5413248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5559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Task를 deadline·duration·priority로 계속 재배치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18504" y="5093208"/>
            <a:ext cx="5413248" cy="969264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47104" y="5248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Planner에서 변경을 먼저 보고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2" y="523036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 → Apply / Discard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47104" y="5614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권고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2" y="5568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초기값은 Reclaim식 reviewable diff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UI · CONTEXT TO ACTION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사업자는 ‘이미 가진 맥락’에서 바로 실행한다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메일·계정·회의·캘린더 맥락은 Google·Microsoft·Apple·Notion이 구조적으로 유리한 영역이다.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26464"/>
            <a:ext cx="3474720" cy="4462272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600200"/>
            <a:ext cx="87782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1508760"/>
            <a:ext cx="1673352" cy="3401568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9" name="Image 0" descr="D:\flowme2605\flow-mvp\output\playwright\ai-calendar-report-2026-07-30\agent-assets\apple-intelligence-suggested-remin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536192"/>
            <a:ext cx="1618488" cy="33467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12648" y="50474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아래 제안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540410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 내용에서 reminder를 제안하고 개별 Add 또는 Include All로 확정한다.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33088" y="1426464"/>
            <a:ext cx="3657600" cy="446227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600200"/>
            <a:ext cx="120700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0832" y="161848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97096" y="1746504"/>
            <a:ext cx="3529584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6" name="Image 1" descr="D:\flowme2605\flow-mvp\output\playwright\ai-calendar-report-2026-07-30\agent-assets\microsoft-copilot-reschedule-preferen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773936"/>
            <a:ext cx="3474720" cy="21762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4256" y="504748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범위를 구조화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34256" y="540410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시 재조정 토글과 acceptable day/time을 먼저 받는다.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28432" y="1426464"/>
            <a:ext cx="3703320" cy="4462272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93024" y="1600200"/>
            <a:ext cx="87782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66176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092440" y="1746504"/>
            <a:ext cx="3575304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3" name="Image 2" descr="D:\flowme2605\flow-mvp\output\playwright\ai-calendar-report-2026-07-30\agent-assets\notion-ai-meeting-notes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773936"/>
            <a:ext cx="3520440" cy="220370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29600" y="5047488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회의가 action으로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0" y="5404104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transcript를 Summary·Next Steps로 바꿔 후속 실행에 연결한다.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438912" y="604418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FlowMe의 차별화는 같은 맥락을 다시 소유하는 것이 아니라, 외부 source의 실행 구조와 provenance를 가지고 들어오는 것.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474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7498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성과는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영속성을 보장하지 않는다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834640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40K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834640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8M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 Time 시간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834640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23M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재배치한 회의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389120"/>
            <a:ext cx="11247120" cy="0"/>
          </a:xfrm>
          <a:prstGeom prst="line">
            <a:avLst/>
          </a:prstGeom>
          <a:noFill/>
          <a:ln w="12700">
            <a:solidFill>
              <a:srgbClr val="35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47823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CLOCKWISE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46268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2026.03.27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53400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종료 · Smart Hold 삭제 · Flexible Meetings 중지 · 데이터 삭제 예정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5907024"/>
            <a:ext cx="11228832" cy="457200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8890">
            <a:solidFill>
              <a:srgbClr val="353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신뢰 계약 = portable export + change history + rollback + source receipt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AUTONOMY LADDER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일정은 한 모드가 아니라 자율성 사다리다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위험도와 외부 영향에 따라 제안·투영·승인형 변경·지속 자동화를 구분해야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427024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4453128"/>
            <a:ext cx="42062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928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248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· Todoist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44368" y="3529584"/>
            <a:ext cx="2560320" cy="1975104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3712464"/>
            <a:ext cx="42062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41879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비파괴 투영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27248" y="4791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Sunsama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52029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Projection → drag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86984" y="2596896"/>
            <a:ext cx="2651760" cy="2907792"/>
          </a:xfrm>
          <a:prstGeom prst="roundRect">
            <a:avLst>
              <a:gd name="adj" fmla="val 2759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9864" y="2779776"/>
            <a:ext cx="42062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43016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769864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변경안 + 승인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69864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Akiflow · Reclaim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69864" y="4270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 / Apply / Undo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30184" y="1581912"/>
            <a:ext cx="3401568" cy="3922776"/>
          </a:xfrm>
          <a:prstGeom prst="roundRect">
            <a:avLst>
              <a:gd name="adj" fmla="val 2151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13064" y="1764792"/>
            <a:ext cx="420624" cy="310896"/>
          </a:xfrm>
          <a:prstGeom prst="roundRect">
            <a:avLst>
              <a:gd name="adj" fmla="val 52941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86216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22402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자동화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513064" y="28437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 · Reclaim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513064" y="325526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replan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0744200" cy="0"/>
          </a:xfrm>
          <a:prstGeom prst="line">
            <a:avLst/>
          </a:prstGeom>
          <a:noFill/>
          <a:ln w="2794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11480" y="59436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통제 높음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594360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영향·복구 요구 높음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CONTRACT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Chat은 표면, 일정 품질은 구조화된 계약이 만든다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해석·제안·설명하고, deterministic scheduler가 검증 가능한 규칙으로 배치한다.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75888" cy="4462272"/>
          </a:xfrm>
          <a:prstGeom prst="roundRect">
            <a:avLst>
              <a:gd name="adj" fmla="val 1990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810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입력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86000"/>
            <a:ext cx="2926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“8월 3일 시작,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3회,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월·수·금 저녁”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제약 필드로 해석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4379976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202631"/>
          </a:solidFill>
          <a:ln w="8890">
            <a:solidFill>
              <a:srgbClr val="3A41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441655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439826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76272" y="4379976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202631"/>
          </a:solidFill>
          <a:ln w="8890">
            <a:solidFill>
              <a:srgbClr val="3A41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441655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706624" y="439826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week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" y="4855464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202631"/>
          </a:solidFill>
          <a:ln w="8890">
            <a:solidFill>
              <a:srgbClr val="3A41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48920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48737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M·W·F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76272" y="4855464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202631"/>
          </a:solidFill>
          <a:ln w="8890">
            <a:solidFill>
              <a:srgbClr val="3A41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49424" y="48920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48737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" y="533095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202631"/>
          </a:solidFill>
          <a:ln w="8890">
            <a:solidFill>
              <a:srgbClr val="3A41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536752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534924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88536" y="3712464"/>
            <a:ext cx="667512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19372" y="3300984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92524" y="331927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84064" y="1572768"/>
            <a:ext cx="1993392" cy="1161288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9512" y="17373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SourceRow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39512" y="2368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원문·anchor·순서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24344" y="1572768"/>
            <a:ext cx="1993392" cy="1161288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17373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Canonical Item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368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state·type·owner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564624" y="1572768"/>
            <a:ext cx="2121408" cy="1161288"/>
          </a:xfrm>
          <a:prstGeom prst="roundRect">
            <a:avLst>
              <a:gd name="adj" fmla="val 6299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20072" y="1737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720072" y="23682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date·duration·flex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84064" y="331012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39512" y="34747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Deterministic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239512" y="42702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후보 계산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24344" y="331012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79792" y="34747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 diff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479792" y="42702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행만 표시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64624" y="3310128"/>
            <a:ext cx="2121408" cy="1325880"/>
          </a:xfrm>
          <a:prstGeom prst="roundRect">
            <a:avLst>
              <a:gd name="adj" fmla="val 5517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20072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720072" y="42702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· Sheet · Calendar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86600" y="2157984"/>
            <a:ext cx="20116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326880" y="2157984"/>
            <a:ext cx="20116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625328" y="2761488"/>
            <a:ext cx="0" cy="310896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63056" y="3072384"/>
            <a:ext cx="4462272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7086600" y="3968496"/>
            <a:ext cx="20116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326880" y="3968496"/>
            <a:ext cx="20116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084064" y="5074920"/>
            <a:ext cx="6601968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1808" y="5248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해도 되는 일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547104" y="5212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 · propose · explain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577072" y="524865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해야 하는 일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0076688" y="5212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· place · diff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 LOOP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시장은 일정 생성에서 ‘관찰·실행·재계획’ 폐루프로 이동했다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FlowMe는 전체 캘린더를 소유할 필요가 없다. source와 실행 artefact 사이의 단절을 닫으면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강의·이메일·회의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20824" y="2569464"/>
            <a:ext cx="24688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13432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450592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추출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22776" y="2569464"/>
            <a:ext cx="24688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15384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2544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52544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제약·일정 후보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24728" y="2569464"/>
            <a:ext cx="24688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17336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Todo·Calendar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26680" y="2569464"/>
            <a:ext cx="24688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19288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56448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56448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완료·이탈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628632" y="2569464"/>
            <a:ext cx="246888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1874520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0" y="20665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24871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future-only diff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625328" y="3429000"/>
            <a:ext cx="0" cy="73152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4160520"/>
            <a:ext cx="9546336" cy="0"/>
          </a:xfrm>
          <a:prstGeom prst="line">
            <a:avLst/>
          </a:prstGeom>
          <a:noFill/>
          <a:ln w="20320">
            <a:solidFill>
              <a:srgbClr val="3D8DFF"/>
            </a:solidFill>
            <a:prstDash val="solid"/>
            <a:head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718304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update / missed schedule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617720"/>
            <a:ext cx="5413248" cy="1124712"/>
          </a:xfrm>
          <a:prstGeom prst="roundRect">
            <a:avLst>
              <a:gd name="adj" fmla="val 6504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4828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강한 영역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230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Gmail · Outlook · 캘린더 충돌 · trigger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18504" y="4617720"/>
            <a:ext cx="5413248" cy="1124712"/>
          </a:xfrm>
          <a:prstGeom prst="roundRect">
            <a:avLst>
              <a:gd name="adj" fmla="val 6504"/>
            </a:avLst>
          </a:prstGeom>
          <a:solidFill>
            <a:srgbClr val="DCEE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4828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FlowMe가 가져갈 빈칸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65392" y="5230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provenance · version · portable receipt · safe diff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PERSONAS &amp; SCENARIOS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페르소나의 공통 요구는 ‘대신 결정’이 아니라 ‘안전한 개인화’다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역할은 콘텐츠 종류와 실패 비용에 따라 달라진다.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82496"/>
            <a:ext cx="114300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700784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· 학습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98648" y="168249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2585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커리큘럼을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현실적인 속도로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3649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4992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시작일 · 주 3회 · 요일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" y="3721608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38404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40480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해석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" y="4197096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431596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315968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lesson 순서 보존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" y="4672584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" y="479145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791456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+ Sheet + Calendar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" y="5413248"/>
            <a:ext cx="3127248" cy="384048"/>
          </a:xfrm>
          <a:prstGeom prst="roundRect">
            <a:avLst>
              <a:gd name="adj" fmla="val 19048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4772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3분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97096" y="1481328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9976" y="1682496"/>
            <a:ext cx="114300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53128" y="1700784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· 이사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684264" y="168249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민지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398264" y="22585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D-30 체크리스트를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이사일로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398264" y="33649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974336" y="3364992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이사일 1개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98264" y="3721608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98264" y="38404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974336" y="3840480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이유 설명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98264" y="4197096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98264" y="431596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974336" y="4315968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anchor offset 보존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98264" y="4672584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98264" y="479145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974336" y="4791456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 + 핵심 anchor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98264" y="5413248"/>
            <a:ext cx="3127248" cy="384048"/>
          </a:xfrm>
          <a:prstGeom prst="roundRect">
            <a:avLst>
              <a:gd name="adj" fmla="val 19048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44568" y="54772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 0건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82712" y="1481328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65592" y="1682496"/>
            <a:ext cx="114300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38744" y="1700784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· 멀티 Flow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469880" y="168249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수진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22585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일에서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할 3개 선택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8183880" y="33649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759952" y="3364992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가용시간 · must-do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83880" y="3721608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83880" y="38404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759952" y="3840480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+ 이유 제안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183880" y="4197096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83880" y="431596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759952" y="4315968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 보존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183880" y="4672584"/>
            <a:ext cx="2971800" cy="0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83880" y="479145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759952" y="4791456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/ replace / undate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183880" y="5413248"/>
            <a:ext cx="3127248" cy="384048"/>
          </a:xfrm>
          <a:prstGeom prst="roundRect">
            <a:avLst>
              <a:gd name="adj" fmla="val 19048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30184" y="54772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20초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JOURNEY 01 · STUDY PACING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여정: 커리큘럼을 ‘내 속도’로 바꾸고 바로 검토한다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AI 일정 slice로 권고: source lesson은 잠그고, 개인 pacing만 수정 가능하게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971800" cy="4279392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82496"/>
            <a:ext cx="12984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70078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· LOCKED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67128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오픽 모의고사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계획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18211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모의고사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6393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62102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모의고사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07822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05993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모의고사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5171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49884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9560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937760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총복습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5896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순서·원문 영상·범위 유지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02152" y="3611880"/>
            <a:ext cx="521208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59836" y="3200400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2988" y="321868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personalize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42232" y="1481328"/>
            <a:ext cx="2926080" cy="4279392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1682496"/>
            <a:ext cx="96012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34840" y="170078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PACING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361688" y="2176272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“8월 3일 시작,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3회, 월·수·금”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4370832" y="3154680"/>
            <a:ext cx="2468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3218688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시작일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47488" y="32004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70832" y="3675888"/>
            <a:ext cx="2468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80560" y="3739896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3721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3회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70832" y="4197096"/>
            <a:ext cx="2468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80560" y="426110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047488" y="42428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· 수 · 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70832" y="4718304"/>
            <a:ext cx="2468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80560" y="4782312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47640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53858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자연어 → 필드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504688" y="53858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날짜 후보 계산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87184" y="3611880"/>
            <a:ext cx="521208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944868" y="3200400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18020" y="321868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827264" y="1481328"/>
            <a:ext cx="3904488" cy="4279392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16824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DCEEFF"/>
          </a:solidFill>
          <a:ln w="8890">
            <a:solidFill>
              <a:srgbClr val="DCEE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19872" y="17007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 · 6 CHANGES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780776" y="16824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065008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8723376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TUE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9381744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WED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10040112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0698480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FRI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046720" y="2487168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119872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705088" y="2487168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77824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363456" y="2487168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36608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021824" y="2487168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94976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680192" y="2487168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753344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046720" y="3273552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119872" y="3328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705088" y="3273552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778240" y="3328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363456" y="3273552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436608" y="3328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021824" y="3273552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094976" y="3328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680192" y="3273552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753344" y="3328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046720" y="4059936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119872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705088" y="4059936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778240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363456" y="4059936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436608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0021824" y="4059936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094976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680192" y="4059936"/>
            <a:ext cx="585216" cy="65836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753344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065008" y="2779776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092440" y="278892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9381744" y="2779776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409176" y="278892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10698480" y="2779776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725912" y="278892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8065008" y="3566160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092440" y="3575304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9381744" y="3566160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409176" y="3575304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10698480" y="3566160"/>
            <a:ext cx="539496" cy="22860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725912" y="3575304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</a:t>
            </a:r>
            <a:endParaRPr lang="en-US" sz="720" dirty="0"/>
          </a:p>
        </p:txBody>
      </p:sp>
      <p:sp>
        <p:nvSpPr>
          <p:cNvPr id="100" name="Text 98"/>
          <p:cNvSpPr txBox="1"/>
          <p:nvPr/>
        </p:nvSpPr>
        <p:spPr>
          <a:xfrm>
            <a:off x="8046720" y="5074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변경된 날짜만 파란색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8046720" y="5321808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046720" y="536752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125712" y="5321808"/>
            <a:ext cx="2340864" cy="292608"/>
          </a:xfrm>
          <a:prstGeom prst="roundRect">
            <a:avLst>
              <a:gd name="adj" fmla="val 25000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162288" y="5367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+ Sheet 저장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11480" y="5925312"/>
            <a:ext cx="23317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57784" y="6007608"/>
            <a:ext cx="111922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3분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1670609" y="6007608"/>
            <a:ext cx="95600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usable schedule median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926080" y="5925312"/>
            <a:ext cx="23317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072384" y="6007608"/>
            <a:ext cx="111922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35%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4185209" y="6007608"/>
            <a:ext cx="95600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대비 단축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440680" y="5925312"/>
            <a:ext cx="23317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586984" y="6007608"/>
            <a:ext cx="111922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6699809" y="6007608"/>
            <a:ext cx="95600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source/date/duration 발명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7955280" y="5925312"/>
            <a:ext cx="377647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101584" y="6007608"/>
            <a:ext cx="181270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12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9994575" y="6007608"/>
            <a:ext cx="1548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≤ 2회 안에 저장·export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JOURNEY 02 · MOVING D-30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여정: AI는 날짜를 만들지 않고 ‘왜 이 날짜인지’ 설명한다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anchor offset은 deterministic하게 계산하고, 완료·과거·원문 일정은 자동 이동하지 않는다.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99616"/>
            <a:ext cx="11320272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anchor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883664" y="1682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이사일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32888" y="16459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4754880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870448" y="1627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offset 적용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345168" y="164592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날짜 발명 0건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8992" y="3310128"/>
            <a:ext cx="9875520" cy="0"/>
          </a:xfrm>
          <a:prstGeom prst="line">
            <a:avLst/>
          </a:prstGeom>
          <a:noFill/>
          <a:ln w="381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00400"/>
            <a:ext cx="219456" cy="219456"/>
          </a:xfrm>
          <a:prstGeom prst="ellipse">
            <a:avLst/>
          </a:prstGeom>
          <a:solidFill>
            <a:srgbClr val="3D8DFF"/>
          </a:solidFill>
          <a:ln w="6350">
            <a:solidFill>
              <a:srgbClr val="3D8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2715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502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" y="38862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견적·예약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38144" y="3200400"/>
            <a:ext cx="219456" cy="219456"/>
          </a:xfrm>
          <a:prstGeom prst="ellipse">
            <a:avLst/>
          </a:prstGeom>
          <a:solidFill>
            <a:srgbClr val="3D8DFF"/>
          </a:solidFill>
          <a:ln w="6350">
            <a:solidFill>
              <a:srgbClr val="3D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54096" y="2715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054096" y="3502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08.18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79776" y="38862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주소·정기배송 변경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07024" y="3200400"/>
            <a:ext cx="219456" cy="219456"/>
          </a:xfrm>
          <a:prstGeom prst="ellipse">
            <a:avLst/>
          </a:prstGeom>
          <a:solidFill>
            <a:srgbClr val="3D8DFF"/>
          </a:solidFill>
          <a:ln w="6350">
            <a:solidFill>
              <a:srgbClr val="3D8D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22976" y="2715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22976" y="3502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08.25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48656" y="38862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인터넷·관리사무소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75904" y="3200400"/>
            <a:ext cx="219456" cy="219456"/>
          </a:xfrm>
          <a:prstGeom prst="ellipse">
            <a:avLst/>
          </a:prstGeom>
          <a:solidFill>
            <a:srgbClr val="3D8DFF"/>
          </a:solidFill>
          <a:ln w="635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91856" y="2715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3502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08.31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17536" y="38862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귀중품·최종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844784" y="3200400"/>
            <a:ext cx="219456" cy="219456"/>
          </a:xfrm>
          <a:prstGeom prst="ellipse">
            <a:avLst/>
          </a:prstGeom>
          <a:solidFill>
            <a:srgbClr val="0B0D12"/>
          </a:solidFill>
          <a:ln w="6350">
            <a:solidFill>
              <a:srgbClr val="0B0D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60736" y="2715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460736" y="3502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09.01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86416" y="38862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이사·인수 확인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4754880"/>
            <a:ext cx="6839712" cy="1069848"/>
          </a:xfrm>
          <a:prstGeom prst="roundRect">
            <a:avLst>
              <a:gd name="adj" fmla="val 6838"/>
            </a:avLst>
          </a:prstGeom>
          <a:solidFill>
            <a:srgbClr val="EFF6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956048"/>
            <a:ext cx="78638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4974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설명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45920" y="4928616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“D-14 원문 anchor를 이사일에서 14일 뺀 8월 18일로 계산했습니다.”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664208" y="53583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row 확인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926080" y="53583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날짜 수정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151376" y="53583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 저장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79792" y="4754880"/>
            <a:ext cx="4251960" cy="1069848"/>
          </a:xfrm>
          <a:prstGeom prst="roundRect">
            <a:avLst>
              <a:gd name="adj" fmla="val 6838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35824" y="4956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재계획 경계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54112" y="53126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54112" y="52943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065008" y="529437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완료·과거 Item 유지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564624" y="53126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564624" y="52943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875520" y="52943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incomplete만 제안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JOURNEY 03 · TODAY TOP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Flow 여정: ‘오늘 3개’는 전체 목록 위의 설명 가능한 lens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캘린더를 읽었다고 암시하지 않고, FlowMe 내부 일정·가용시간·must-do만 사용한다.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944368" cy="4443984"/>
          </a:xfrm>
          <a:prstGeom prst="roundRect">
            <a:avLst>
              <a:gd name="adj" fmla="val 2484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· 9개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66544" y="1709928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72821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 유지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4048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3865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2곳 비교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40080" y="2843784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9169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8986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모의고사 3회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40080" y="3355848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429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410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서류 확인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9410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9227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검토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40080" y="4379976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4531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434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정기배송 중지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2487168" cy="393192"/>
          </a:xfrm>
          <a:prstGeom prst="roundRect">
            <a:avLst>
              <a:gd name="adj" fmla="val 18605"/>
            </a:avLst>
          </a:prstGeom>
          <a:solidFill>
            <a:srgbClr val="F2F4F7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965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49469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더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2487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53212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 탭에서 모두 보기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02152" y="3685032"/>
            <a:ext cx="521208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59836" y="3273552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32988" y="329184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42232" y="1481328"/>
            <a:ext cx="3703320" cy="4443984"/>
          </a:xfrm>
          <a:prstGeom prst="roundRect">
            <a:avLst>
              <a:gd name="adj" fmla="val 1975"/>
            </a:avLst>
          </a:prstGeom>
          <a:solidFill>
            <a:srgbClr val="EFF6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0832" y="1682496"/>
            <a:ext cx="1993392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43984" y="17007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BRIEF · FLOWME INTERNAL</a:t>
            </a:r>
            <a:endParaRPr lang="en-US" sz="820" dirty="0"/>
          </a:p>
        </p:txBody>
      </p:sp>
      <p:sp>
        <p:nvSpPr>
          <p:cNvPr id="35" name="Text 33"/>
          <p:cNvSpPr txBox="1"/>
          <p:nvPr/>
        </p:nvSpPr>
        <p:spPr>
          <a:xfrm>
            <a:off x="4370832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처리할 3개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370832" y="2688336"/>
            <a:ext cx="3246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8848" y="2834640"/>
            <a:ext cx="329184" cy="292608"/>
          </a:xfrm>
          <a:prstGeom prst="roundRect">
            <a:avLst>
              <a:gd name="adj" fmla="val 56250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2852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965192" y="277977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서류 확인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965192" y="3044952"/>
            <a:ext cx="2322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마감 · 15분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70832" y="3465576"/>
            <a:ext cx="3246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8848" y="3611880"/>
            <a:ext cx="329184" cy="292608"/>
          </a:xfrm>
          <a:prstGeom prst="roundRect">
            <a:avLst>
              <a:gd name="adj" fmla="val 56250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0" y="36301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965192" y="355701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2곳 비교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965192" y="3822192"/>
            <a:ext cx="2322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 가능 시간 전 · 30분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370832" y="4242816"/>
            <a:ext cx="3246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8848" y="4389120"/>
            <a:ext cx="329184" cy="292608"/>
          </a:xfrm>
          <a:prstGeom prst="roundRect">
            <a:avLst>
              <a:gd name="adj" fmla="val 56250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0" y="4407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965192" y="433425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모의고사 3회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4965192" y="4599432"/>
            <a:ext cx="2322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 가용 · 45분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70832" y="5248656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70832" y="53035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13248" y="5248656"/>
            <a:ext cx="2203704" cy="310896"/>
          </a:xfrm>
          <a:prstGeom prst="roundRect">
            <a:avLst>
              <a:gd name="adj" fmla="val 23529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13248" y="530352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3개로 시작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74152" y="1481328"/>
            <a:ext cx="3657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02752" y="17282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이유가 보여야 한다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8302752" y="22677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6F7E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02752" y="224942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613648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마감·anchor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747504" y="22677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6F7E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747504" y="224942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058400" y="22494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duration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302752" y="27432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6F7E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02752" y="272491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613648" y="272491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가용시간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747504" y="27432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6F7E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747504" y="272491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0058400" y="272491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must-do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02752" y="3246120"/>
            <a:ext cx="3182112" cy="365760"/>
          </a:xfrm>
          <a:prstGeom prst="roundRect">
            <a:avLst>
              <a:gd name="adj" fmla="val 20000"/>
            </a:avLst>
          </a:prstGeom>
          <a:solidFill>
            <a:srgbClr val="FEECEB"/>
          </a:solidFill>
          <a:ln w="8890">
            <a:solidFill>
              <a:srgbClr val="FEECE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302752" y="3310128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calendar read 없음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074152" y="4133088"/>
            <a:ext cx="1700784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220456" y="4215384"/>
            <a:ext cx="816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20초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8992575" y="4215384"/>
            <a:ext cx="69732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행동 선택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930384" y="4133088"/>
            <a:ext cx="1801368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076688" y="4215384"/>
            <a:ext cx="8646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80%</a:t>
            </a:r>
            <a:endParaRPr lang="en-US" sz="1600" dirty="0"/>
          </a:p>
        </p:txBody>
      </p:sp>
      <p:sp>
        <p:nvSpPr>
          <p:cNvPr id="76" name="Text 74"/>
          <p:cNvSpPr txBox="1"/>
          <p:nvPr/>
        </p:nvSpPr>
        <p:spPr>
          <a:xfrm>
            <a:off x="10903123" y="4215384"/>
            <a:ext cx="738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이해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74152" y="5102352"/>
            <a:ext cx="1700784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220456" y="5184648"/>
            <a:ext cx="816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8992575" y="5184648"/>
            <a:ext cx="69732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 찾기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930384" y="5102352"/>
            <a:ext cx="1801368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076688" y="5184648"/>
            <a:ext cx="86465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903123" y="5184648"/>
            <a:ext cx="73856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완료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BASELINE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FlowMe는 ‘일정 의미’는 강하고 ‘실제 연결 근거’는 비어 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fixture·projection 계약은 충분히 진전됐지만, 이것을 AI 자동화나 external round-trip 성공으로 해석하면 안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1472184"/>
            <a:ext cx="6565392" cy="412394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6" name="Image 0" descr="D:\flowme2605\flow-mvp\docs\content-audit\2026-07-29-p35-r13-final-internal-gate\screenshots\p35-r13-b-date-groups-1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99616"/>
            <a:ext cx="6510528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00784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171907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PRODUCT · MY FLOW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5212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그룹 + canonical Item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05472" y="1499616"/>
            <a:ext cx="2048256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4" y="162763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70064" y="2212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scheduling/event fixtures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427464" y="1499616"/>
            <a:ext cx="2304288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92056" y="1627632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315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592056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× 5 projection cells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05472" y="2651760"/>
            <a:ext cx="2048256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70064" y="277977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32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370064" y="33649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계약 검증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427464" y="2651760"/>
            <a:ext cx="2304288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92056" y="2779776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 / 100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592056" y="33649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canonical architecture score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05472" y="3803904"/>
            <a:ext cx="2048256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70064" y="393192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92.86%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370064" y="45171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Checklist/Todo agreement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427464" y="3803904"/>
            <a:ext cx="2304288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92056" y="393192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97.62%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9592056" y="451713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projection agreement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205472" y="4956048"/>
            <a:ext cx="4526280" cy="932688"/>
          </a:xfrm>
          <a:prstGeom prst="roundRect">
            <a:avLst>
              <a:gd name="adj" fmla="val 7843"/>
            </a:avLst>
          </a:prstGeom>
          <a:solidFill>
            <a:srgbClr val="FEECEB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52360" y="51480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없는 근거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522208" y="511149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Calendar/VTODO round-trip  NOT_RUN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522208" y="546811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 users 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/ DEFER / AVOID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경계: 지금은 source-grounded preview, 자동 쓰기는 나중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많이 넣는 것이 아니라, 어떤 변경이 어디까지 안전한지 명확하게 자른다.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E6F7E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7922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" y="2286000"/>
            <a:ext cx="3054096" cy="0"/>
          </a:xfrm>
          <a:prstGeom prst="line">
            <a:avLst/>
          </a:prstGeom>
          <a:noFill/>
          <a:ln w="16510">
            <a:solidFill>
              <a:srgbClr val="16A5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2606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" y="26151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5968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text·row 보존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" y="31912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32004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18211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constraint 필드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" y="37764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" y="37856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deterministic schedule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" y="43616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" y="43708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3525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 diff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" y="49469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16A5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" y="49560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37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 receipt·undo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" y="5495544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54126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바로 보이는 계약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97096" y="1536192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FFF4DD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16552" y="17922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16552" y="2286000"/>
            <a:ext cx="3054096" cy="0"/>
          </a:xfrm>
          <a:prstGeom prst="line">
            <a:avLst/>
          </a:prstGeom>
          <a:noFill/>
          <a:ln w="16510">
            <a:solidFill>
              <a:srgbClr val="E9A2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16552" y="2606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16552" y="26151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09744" y="25968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calendar read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16552" y="31912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16552" y="32004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809744" y="318211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sync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16552" y="37764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16552" y="37856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809744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auto-write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416552" y="43616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16552" y="43708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809744" y="43525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cross-device trigger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416552" y="49469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9A2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16552" y="49560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809744" y="4937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creator update auto-merge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416552" y="5495544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71416" y="554126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생기면 재검토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82712" y="1536192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FEECEB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02168" y="17922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 NOT BUILD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02168" y="2286000"/>
            <a:ext cx="3054096" cy="0"/>
          </a:xfrm>
          <a:prstGeom prst="line">
            <a:avLst/>
          </a:prstGeom>
          <a:noFill/>
          <a:ln w="16510">
            <a:solidFill>
              <a:srgbClr val="D92D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02168" y="2606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02168" y="26151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595360" y="25968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Calendar 복제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202168" y="31912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02168" y="32004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8595360" y="318211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없는 날짜 발명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202168" y="37764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02168" y="37856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595360" y="37673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없는 Item 강제 배치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202168" y="43616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202168" y="43708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8595360" y="43525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외부 변경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202168" y="49469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02168" y="49560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8595360" y="4937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 숨기기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8202168" y="5495544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57032" y="554126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정체성을 흐리는 범위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실험은 ‘정확도’보다 행동 시간·이해·복구를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 통과가 아니라 관찰 사용자 행동으로 다음 제품 결정을 내린다.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517904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DCEE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719072"/>
            <a:ext cx="12984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· PRIORITY 1</a:t>
            </a:r>
            <a:endParaRPr lang="en-US" sz="82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16733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12명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33172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 pacing preview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09067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+ 개인 속도 → 저장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" y="37124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6941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" y="36941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3분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" y="41696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" y="41513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" y="41513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35% 단축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" y="46268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46085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" y="46085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 0건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" y="50840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50657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" y="50657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9/12 ≤ 2 edits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559612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/ ITERATE / STOP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97096" y="1517904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98264" y="1719072"/>
            <a:ext cx="12984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71416" y="17373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 · CROSSOVER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16733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15명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398264" y="233172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Today top 3 brief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398264" y="309067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crossover · 첫 행동 선택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98264" y="37124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98264" y="36941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709160" y="36941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20초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98264" y="41696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98264" y="41513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09160" y="41513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이해 ≥ 80%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98264" y="46268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98264" y="46085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709160" y="46085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찾기 ≥ 90%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98264" y="50840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98264" y="50657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709160" y="50657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≥ 60%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398264" y="559612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/ ITERATE / STOP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82712" y="1517904"/>
            <a:ext cx="3529584" cy="4443984"/>
          </a:xfrm>
          <a:prstGeom prst="roundRect">
            <a:avLst>
              <a:gd name="adj" fmla="val 2073"/>
            </a:avLst>
          </a:prstGeom>
          <a:solidFill>
            <a:srgbClr val="EFF6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1719072"/>
            <a:ext cx="1298448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57032" y="17373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E3 · RECOVERY</a:t>
            </a:r>
            <a:endParaRPr lang="en-US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10433304" y="16733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12명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233172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Missed schedule replan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8183880" y="309067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incomplete만 재계획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183880" y="37124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83880" y="36941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494776" y="36941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changed rows ≥ 90%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183880" y="41696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83880" y="41513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94776" y="41513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100%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183880" y="46268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183880" y="46085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494776" y="46085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40% 단축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183880" y="50840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183880" y="5065776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494776" y="50657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변경 0건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183880" y="559612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/ ITERATE / STOP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6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9377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안에 ‘계속 갈지’ 결정하고, integration은 24 round-trips 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vertical journey로 학습한 뒤에만 더 넓은 자동화로 확장한다.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331720" cy="3072384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10512"/>
            <a:ext cx="69494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고정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source / personal 경계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56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constraint schema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953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diff / receipt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96265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98648" y="1600200"/>
            <a:ext cx="2788920" cy="3072384"/>
          </a:xfrm>
          <a:prstGeom prst="roundRect">
            <a:avLst>
              <a:gd name="adj" fmla="val 2623"/>
            </a:avLst>
          </a:prstGeom>
          <a:solidFill>
            <a:srgbClr val="EFF6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1810512"/>
            <a:ext cx="69494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W1–2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081528" y="2331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 prototype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3017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pacing input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81528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deterministic preview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081528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Todo + Sheet export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296265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843016" y="1600200"/>
            <a:ext cx="2788920" cy="3072384"/>
          </a:xfrm>
          <a:prstGeom prst="roundRect">
            <a:avLst>
              <a:gd name="adj" fmla="val 2623"/>
            </a:avLst>
          </a:prstGeom>
          <a:solidFill>
            <a:srgbClr val="DCEE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5896" y="1810512"/>
            <a:ext cx="694944" cy="310896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99048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W3–4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025896" y="23317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12명 관찰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025896" y="3017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manual 비교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025896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source 이해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25896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≤ 2 edits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59368" y="296265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787384" y="1600200"/>
            <a:ext cx="2944368" cy="3072384"/>
          </a:xfrm>
          <a:prstGeom prst="roundRect">
            <a:avLst>
              <a:gd name="adj" fmla="val 2484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0264" y="1810512"/>
            <a:ext cx="694944" cy="310896"/>
          </a:xfrm>
          <a:prstGeom prst="roundRect">
            <a:avLst>
              <a:gd name="adj" fmla="val 52941"/>
            </a:avLst>
          </a:prstGeom>
          <a:solidFill>
            <a:srgbClr val="3D8D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43416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W5–6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970264" y="233172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970264" y="30175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PASS → E2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970264" y="34564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ITERATE → contract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970264" y="3895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STOP → no automation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" y="4983480"/>
            <a:ext cx="11320272" cy="950976"/>
          </a:xfrm>
          <a:prstGeom prst="roundRect">
            <a:avLst>
              <a:gd name="adj" fmla="val 7692"/>
            </a:avLst>
          </a:prstGeom>
          <a:solidFill>
            <a:srgbClr val="FEECEB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5212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INTEGRATION GATE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73552" y="5148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representative events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5596128" y="5138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016752" y="5148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Outlook · Apple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887968" y="5138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9308592" y="510235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round-trips</a:t>
            </a:r>
            <a:endParaRPr lang="en-US" sz="21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5605272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timezone · all-day · recurrence · update · delete · source receipt를 통과한 뒤에만 direct integration 표현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18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FLOWME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261872"/>
            <a:ext cx="9692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콘텐츠를 일정으로 바꾸되,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통제권은 남긴다.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11480" y="3246120"/>
            <a:ext cx="11320272" cy="1417320"/>
          </a:xfrm>
          <a:prstGeom prst="roundRect">
            <a:avLst>
              <a:gd name="adj" fmla="val 5161"/>
            </a:avLst>
          </a:prstGeom>
          <a:solidFill>
            <a:srgbClr val="0B0D12"/>
          </a:solidFill>
          <a:ln w="8890">
            <a:solidFill>
              <a:srgbClr val="0B0D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3511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D0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SLICE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3410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 pacing preview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399592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잠금 · 개인 제약 · deterministic schedule · editable diff · export receipt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5047488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8890">
            <a:solidFill>
              <a:srgbClr val="3D8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303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5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승인할 것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51846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12명 관찰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05656" y="5047488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52303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보류할 것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51846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0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auto-write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9832" y="504748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EECEB"/>
          </a:solidFill>
          <a:ln w="8890">
            <a:solidFill>
              <a:srgbClr val="D92D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28432" y="52303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조건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997696" y="5184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2D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 0 · undo 100%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6181344"/>
            <a:ext cx="11320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보고서는 전략 권고이며 실제 사용자 검증 결과가 아니다.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FlowMe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일정관리의 다음 승부처</dc:title>
  <dc:subject>AI calendar, task, and scheduling market research and FlowMe strategy</dc:subject>
  <dc:creator>OpenAI Codex</dc:creator>
  <cp:lastModifiedBy>OpenAI Codex</cp:lastModifiedBy>
  <cp:revision>1</cp:revision>
  <dcterms:created xsi:type="dcterms:W3CDTF">2026-07-30T03:12:02Z</dcterms:created>
  <dcterms:modified xsi:type="dcterms:W3CDTF">2026-07-30T03:12:02Z</dcterms:modified>
</cp:coreProperties>
</file>