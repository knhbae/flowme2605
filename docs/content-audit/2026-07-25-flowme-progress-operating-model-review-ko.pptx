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fb458e033c43aa" /><Relationship Type="http://schemas.openxmlformats.org/officeDocument/2006/relationships/extended-properties" Target="/docProps/app.xml" Id="R1aadc468da7249df" /><Relationship Type="http://schemas.openxmlformats.org/officeDocument/2006/relationships/officeDocument" Target="/ppt/presentation.xml" Id="R30802a6ac4634c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97b09886bd4a34"/>
  </p:sldMasterIdLst>
  <p:notesMasterIdLst>
    <p:notesMasterId xmlns:r="http://schemas.openxmlformats.org/officeDocument/2006/relationships" r:id="R270403b44d7f43f3"/>
  </p:notesMasterIdLst>
  <p:sldIdLst>
    <p:sldId xmlns:r="http://schemas.openxmlformats.org/officeDocument/2006/relationships" id="256" r:id="R2181daa45175461d"/>
    <p:sldId xmlns:r="http://schemas.openxmlformats.org/officeDocument/2006/relationships" id="257" r:id="R9ad61fa7f21e44b3"/>
    <p:sldId xmlns:r="http://schemas.openxmlformats.org/officeDocument/2006/relationships" id="258" r:id="R4ae73e82de9c4ba6"/>
    <p:sldId xmlns:r="http://schemas.openxmlformats.org/officeDocument/2006/relationships" id="259" r:id="Rdaaa81f50fea4729"/>
    <p:sldId xmlns:r="http://schemas.openxmlformats.org/officeDocument/2006/relationships" id="260" r:id="R4256df23df004253"/>
    <p:sldId xmlns:r="http://schemas.openxmlformats.org/officeDocument/2006/relationships" id="261" r:id="R08fd9a0637174d4b"/>
    <p:sldId xmlns:r="http://schemas.openxmlformats.org/officeDocument/2006/relationships" id="262" r:id="Rc24b0ec084424183"/>
    <p:sldId xmlns:r="http://schemas.openxmlformats.org/officeDocument/2006/relationships" id="263" r:id="Rc57aabf369514fab"/>
    <p:sldId xmlns:r="http://schemas.openxmlformats.org/officeDocument/2006/relationships" id="264" r:id="R5e9b5733290e48e5"/>
    <p:sldId xmlns:r="http://schemas.openxmlformats.org/officeDocument/2006/relationships" id="265" r:id="Ra37c64c75a13496a"/>
    <p:sldId xmlns:r="http://schemas.openxmlformats.org/officeDocument/2006/relationships" id="266" r:id="R68fa5b6352774c6c"/>
    <p:sldId xmlns:r="http://schemas.openxmlformats.org/officeDocument/2006/relationships" id="267" r:id="R6a0d7a022ccf4451"/>
    <p:sldId xmlns:r="http://schemas.openxmlformats.org/officeDocument/2006/relationships" id="268" r:id="R07684f57827f476b"/>
    <p:sldId xmlns:r="http://schemas.openxmlformats.org/officeDocument/2006/relationships" id="269" r:id="Rc5a151fb311d4a85"/>
    <p:sldId xmlns:r="http://schemas.openxmlformats.org/officeDocument/2006/relationships" id="270" r:id="Rfde51ec4aad84a19"/>
    <p:sldId xmlns:r="http://schemas.openxmlformats.org/officeDocument/2006/relationships" id="271" r:id="R47426dbe54364f50"/>
    <p:sldId xmlns:r="http://schemas.openxmlformats.org/officeDocument/2006/relationships" id="272" r:id="R34a0045834024ed5"/>
    <p:sldId xmlns:r="http://schemas.openxmlformats.org/officeDocument/2006/relationships" id="273" r:id="R4db59b5b7b7448a6"/>
    <p:sldId xmlns:r="http://schemas.openxmlformats.org/officeDocument/2006/relationships" id="274" r:id="Rc712a9e1f77c47c1"/>
    <p:sldId xmlns:r="http://schemas.openxmlformats.org/officeDocument/2006/relationships" id="275" r:id="R485da58b88bd4233"/>
    <p:sldId xmlns:r="http://schemas.openxmlformats.org/officeDocument/2006/relationships" id="276" r:id="R303c93661da04326"/>
    <p:sldId xmlns:r="http://schemas.openxmlformats.org/officeDocument/2006/relationships" id="277" r:id="Rd2903e0c820845c3"/>
    <p:sldId xmlns:r="http://schemas.openxmlformats.org/officeDocument/2006/relationships" id="278" r:id="R77f545a83cf24b88"/>
    <p:sldId xmlns:r="http://schemas.openxmlformats.org/officeDocument/2006/relationships" id="279" r:id="R1bf9a2c028e14083"/>
    <p:sldId xmlns:r="http://schemas.openxmlformats.org/officeDocument/2006/relationships" id="280" r:id="R788c7ca7ce5947c0"/>
    <p:sldId xmlns:r="http://schemas.openxmlformats.org/officeDocument/2006/relationships" id="281" r:id="Rac7baac204244734"/>
    <p:sldId xmlns:r="http://schemas.openxmlformats.org/officeDocument/2006/relationships" id="282" r:id="R5ee17c3b3efa4099"/>
    <p:sldId xmlns:r="http://schemas.openxmlformats.org/officeDocument/2006/relationships" id="283" r:id="Rc03a593756834da6"/>
    <p:sldId xmlns:r="http://schemas.openxmlformats.org/officeDocument/2006/relationships" id="284" r:id="Re7eadc169c514776"/>
    <p:sldId xmlns:r="http://schemas.openxmlformats.org/officeDocument/2006/relationships" id="285" r:id="R4e9b6d18beb241cc"/>
    <p:sldId xmlns:r="http://schemas.openxmlformats.org/officeDocument/2006/relationships" id="286" r:id="R97752bbcdc404cb3"/>
    <p:sldId xmlns:r="http://schemas.openxmlformats.org/officeDocument/2006/relationships" id="287" r:id="R0c7fb8f5c7394b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f96d745e06481c" /><Relationship Type="http://schemas.openxmlformats.org/officeDocument/2006/relationships/slideMaster" Target="/ppt/slideMasters/slideMaster1.xml" Id="Rf897b09886bd4a34" /><Relationship Type="http://schemas.openxmlformats.org/officeDocument/2006/relationships/notesMaster" Target="/ppt/notesMasters/notesMaster1.xml" Id="R270403b44d7f43f3" /><Relationship Type="http://schemas.openxmlformats.org/officeDocument/2006/relationships/presProps" Target="/ppt/presProps.xml" Id="R3505a362ec2041a1" /><Relationship Type="http://schemas.openxmlformats.org/officeDocument/2006/relationships/tableStyles" Target="/ppt/tableStyles.xml" Id="Rb64ca53f01354859" /><Relationship Type="http://schemas.openxmlformats.org/officeDocument/2006/relationships/slide" Target="/ppt/slides/slide1.xml" Id="R2181daa45175461d" /><Relationship Type="http://schemas.openxmlformats.org/officeDocument/2006/relationships/slide" Target="/ppt/slides/slide2.xml" Id="R9ad61fa7f21e44b3" /><Relationship Type="http://schemas.openxmlformats.org/officeDocument/2006/relationships/slide" Target="/ppt/slides/slide3.xml" Id="R4ae73e82de9c4ba6" /><Relationship Type="http://schemas.openxmlformats.org/officeDocument/2006/relationships/slide" Target="/ppt/slides/slide4.xml" Id="Rdaaa81f50fea4729" /><Relationship Type="http://schemas.openxmlformats.org/officeDocument/2006/relationships/slide" Target="/ppt/slides/slide5.xml" Id="R4256df23df004253" /><Relationship Type="http://schemas.openxmlformats.org/officeDocument/2006/relationships/slide" Target="/ppt/slides/slide6.xml" Id="R08fd9a0637174d4b" /><Relationship Type="http://schemas.openxmlformats.org/officeDocument/2006/relationships/slide" Target="/ppt/slides/slide7.xml" Id="Rc24b0ec084424183" /><Relationship Type="http://schemas.openxmlformats.org/officeDocument/2006/relationships/slide" Target="/ppt/slides/slide8.xml" Id="Rc57aabf369514fab" /><Relationship Type="http://schemas.openxmlformats.org/officeDocument/2006/relationships/slide" Target="/ppt/slides/slide9.xml" Id="R5e9b5733290e48e5" /><Relationship Type="http://schemas.openxmlformats.org/officeDocument/2006/relationships/slide" Target="/ppt/slides/slide10.xml" Id="Ra37c64c75a13496a" /><Relationship Type="http://schemas.openxmlformats.org/officeDocument/2006/relationships/slide" Target="/ppt/slides/slide11.xml" Id="R68fa5b6352774c6c" /><Relationship Type="http://schemas.openxmlformats.org/officeDocument/2006/relationships/slide" Target="/ppt/slides/slide12.xml" Id="R6a0d7a022ccf4451" /><Relationship Type="http://schemas.openxmlformats.org/officeDocument/2006/relationships/slide" Target="/ppt/slides/slide13.xml" Id="R07684f57827f476b" /><Relationship Type="http://schemas.openxmlformats.org/officeDocument/2006/relationships/slide" Target="/ppt/slides/slide14.xml" Id="Rc5a151fb311d4a85" /><Relationship Type="http://schemas.openxmlformats.org/officeDocument/2006/relationships/slide" Target="/ppt/slides/slide15.xml" Id="Rfde51ec4aad84a19" /><Relationship Type="http://schemas.openxmlformats.org/officeDocument/2006/relationships/slide" Target="/ppt/slides/slide16.xml" Id="R47426dbe54364f50" /><Relationship Type="http://schemas.openxmlformats.org/officeDocument/2006/relationships/slide" Target="/ppt/slides/slide17.xml" Id="R34a0045834024ed5" /><Relationship Type="http://schemas.openxmlformats.org/officeDocument/2006/relationships/slide" Target="/ppt/slides/slide18.xml" Id="R4db59b5b7b7448a6" /><Relationship Type="http://schemas.openxmlformats.org/officeDocument/2006/relationships/slide" Target="/ppt/slides/slide19.xml" Id="Rc712a9e1f77c47c1" /><Relationship Type="http://schemas.openxmlformats.org/officeDocument/2006/relationships/slide" Target="/ppt/slides/slide20.xml" Id="R485da58b88bd4233" /><Relationship Type="http://schemas.openxmlformats.org/officeDocument/2006/relationships/slide" Target="/ppt/slides/slide21.xml" Id="R303c93661da04326" /><Relationship Type="http://schemas.openxmlformats.org/officeDocument/2006/relationships/slide" Target="/ppt/slides/slide22.xml" Id="Rd2903e0c820845c3" /><Relationship Type="http://schemas.openxmlformats.org/officeDocument/2006/relationships/slide" Target="/ppt/slides/slide23.xml" Id="R77f545a83cf24b88" /><Relationship Type="http://schemas.openxmlformats.org/officeDocument/2006/relationships/slide" Target="/ppt/slides/slide24.xml" Id="R1bf9a2c028e14083" /><Relationship Type="http://schemas.openxmlformats.org/officeDocument/2006/relationships/slide" Target="/ppt/slides/slide25.xml" Id="R788c7ca7ce5947c0" /><Relationship Type="http://schemas.openxmlformats.org/officeDocument/2006/relationships/slide" Target="/ppt/slides/slide26.xml" Id="Rac7baac204244734" /><Relationship Type="http://schemas.openxmlformats.org/officeDocument/2006/relationships/slide" Target="/ppt/slides/slide27.xml" Id="R5ee17c3b3efa4099" /><Relationship Type="http://schemas.openxmlformats.org/officeDocument/2006/relationships/slide" Target="/ppt/slides/slide28.xml" Id="Rc03a593756834da6" /><Relationship Type="http://schemas.openxmlformats.org/officeDocument/2006/relationships/slide" Target="/ppt/slides/slide29.xml" Id="Re7eadc169c514776" /><Relationship Type="http://schemas.openxmlformats.org/officeDocument/2006/relationships/slide" Target="/ppt/slides/slide30.xml" Id="R4e9b6d18beb241cc" /><Relationship Type="http://schemas.openxmlformats.org/officeDocument/2006/relationships/slide" Target="/ppt/slides/slide31.xml" Id="R97752bbcdc404cb3" /><Relationship Type="http://schemas.openxmlformats.org/officeDocument/2006/relationships/slide" Target="/ppt/slides/slide32.xml" Id="R0c7fb8f5c7394b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705dc19f4d46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dd5872cca142bb" /><Relationship Type="http://schemas.openxmlformats.org/officeDocument/2006/relationships/notesMaster" Target="/ppt/notesMasters/notesMaster1.xml" Id="Ra8c4ab00b34543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c438995dde4b2e" /><Relationship Type="http://schemas.openxmlformats.org/officeDocument/2006/relationships/notesMaster" Target="/ppt/notesMasters/notesMaster1.xml" Id="R91e019e3c94c47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55d39cf49a4225" /><Relationship Type="http://schemas.openxmlformats.org/officeDocument/2006/relationships/notesMaster" Target="/ppt/notesMasters/notesMaster1.xml" Id="R7508daae46234c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88a5fb420e49df" /><Relationship Type="http://schemas.openxmlformats.org/officeDocument/2006/relationships/notesMaster" Target="/ppt/notesMasters/notesMaster1.xml" Id="R2be60e7a62244d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3d5c1be1b0463a" /><Relationship Type="http://schemas.openxmlformats.org/officeDocument/2006/relationships/notesMaster" Target="/ppt/notesMasters/notesMaster1.xml" Id="R9231a1248ef644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b717a451b94d5d" /><Relationship Type="http://schemas.openxmlformats.org/officeDocument/2006/relationships/notesMaster" Target="/ppt/notesMasters/notesMaster1.xml" Id="Rebbc89f1612548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2864f0ece04f6a" /><Relationship Type="http://schemas.openxmlformats.org/officeDocument/2006/relationships/notesMaster" Target="/ppt/notesMasters/notesMaster1.xml" Id="R7bcc5af1d6d447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67fc69d39440f3" /><Relationship Type="http://schemas.openxmlformats.org/officeDocument/2006/relationships/notesMaster" Target="/ppt/notesMasters/notesMaster1.xml" Id="R15ff1014ebba48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c80a25dff44feb" /><Relationship Type="http://schemas.openxmlformats.org/officeDocument/2006/relationships/notesMaster" Target="/ppt/notesMasters/notesMaster1.xml" Id="R4db8ead86ebd4f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83f95af2ba4777" /><Relationship Type="http://schemas.openxmlformats.org/officeDocument/2006/relationships/notesMaster" Target="/ppt/notesMasters/notesMaster1.xml" Id="Rf3e8262cb48d49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8b341766194675" /><Relationship Type="http://schemas.openxmlformats.org/officeDocument/2006/relationships/notesMaster" Target="/ppt/notesMasters/notesMaster1.xml" Id="R42f3f39d5d284d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980733db3e4240" /><Relationship Type="http://schemas.openxmlformats.org/officeDocument/2006/relationships/notesMaster" Target="/ppt/notesMasters/notesMaster1.xml" Id="Re30272580cb245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bdb8153a7d49a0" /><Relationship Type="http://schemas.openxmlformats.org/officeDocument/2006/relationships/notesMaster" Target="/ppt/notesMasters/notesMaster1.xml" Id="Ra9d1254bf39046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55e74363e44b7c" /><Relationship Type="http://schemas.openxmlformats.org/officeDocument/2006/relationships/notesMaster" Target="/ppt/notesMasters/notesMaster1.xml" Id="R0bd0271271bd45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f13a82201914464" /><Relationship Type="http://schemas.openxmlformats.org/officeDocument/2006/relationships/notesMaster" Target="/ppt/notesMasters/notesMaster1.xml" Id="Rc656969af04c46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f27c66649940ec" /><Relationship Type="http://schemas.openxmlformats.org/officeDocument/2006/relationships/notesMaster" Target="/ppt/notesMasters/notesMaster1.xml" Id="R43c2eb396d8d46f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58505818fc4b08" /><Relationship Type="http://schemas.openxmlformats.org/officeDocument/2006/relationships/notesMaster" Target="/ppt/notesMasters/notesMaster1.xml" Id="R245689e0cc4248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3f2fb5e352d4a9a" /><Relationship Type="http://schemas.openxmlformats.org/officeDocument/2006/relationships/notesMaster" Target="/ppt/notesMasters/notesMaster1.xml" Id="Ree50baf5b52c420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33a3de8f6674171" /><Relationship Type="http://schemas.openxmlformats.org/officeDocument/2006/relationships/notesMaster" Target="/ppt/notesMasters/notesMaster1.xml" Id="R7888d6dece3c4f2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2da333bae9c4911" /><Relationship Type="http://schemas.openxmlformats.org/officeDocument/2006/relationships/notesMaster" Target="/ppt/notesMasters/notesMaster1.xml" Id="R35d8b6ad6dd6459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bb4b2a1b860437a" /><Relationship Type="http://schemas.openxmlformats.org/officeDocument/2006/relationships/notesMaster" Target="/ppt/notesMasters/notesMaster1.xml" Id="R486b1c41f9cf427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b9bb34e72f14255" /><Relationship Type="http://schemas.openxmlformats.org/officeDocument/2006/relationships/notesMaster" Target="/ppt/notesMasters/notesMaster1.xml" Id="R1bace8b1787f450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027b4bcd14f4fb4" /><Relationship Type="http://schemas.openxmlformats.org/officeDocument/2006/relationships/notesMaster" Target="/ppt/notesMasters/notesMaster1.xml" Id="Rc235a39a81db4d7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71bdd29b38841dc" /><Relationship Type="http://schemas.openxmlformats.org/officeDocument/2006/relationships/notesMaster" Target="/ppt/notesMasters/notesMaster1.xml" Id="R6ab57e768acb4fb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9c1220dd63c4a1e" /><Relationship Type="http://schemas.openxmlformats.org/officeDocument/2006/relationships/notesMaster" Target="/ppt/notesMasters/notesMaster1.xml" Id="R75298b5e630f4e6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3204c9effab4315" /><Relationship Type="http://schemas.openxmlformats.org/officeDocument/2006/relationships/notesMaster" Target="/ppt/notesMasters/notesMaster1.xml" Id="R0a3983e82b30450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13754c2d59940ab" /><Relationship Type="http://schemas.openxmlformats.org/officeDocument/2006/relationships/notesMaster" Target="/ppt/notesMasters/notesMaster1.xml" Id="R690e574d9de648a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198f36805704738" /><Relationship Type="http://schemas.openxmlformats.org/officeDocument/2006/relationships/notesMaster" Target="/ppt/notesMasters/notesMaster1.xml" Id="R1282581552504c4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ada2073b4424e2f" /><Relationship Type="http://schemas.openxmlformats.org/officeDocument/2006/relationships/notesMaster" Target="/ppt/notesMasters/notesMaster1.xml" Id="Rd70281dd90214db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ab891cab17a4213" /><Relationship Type="http://schemas.openxmlformats.org/officeDocument/2006/relationships/notesMaster" Target="/ppt/notesMasters/notesMaster1.xml" Id="R2e06292022794d4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125727e02444ed9" /><Relationship Type="http://schemas.openxmlformats.org/officeDocument/2006/relationships/notesMaster" Target="/ppt/notesMasters/notesMaster1.xml" Id="R1a7c315fcaac41a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23524d75196411b" /><Relationship Type="http://schemas.openxmlformats.org/officeDocument/2006/relationships/notesMaster" Target="/ppt/notesMasters/notesMaster1.xml" Id="R978eec9183494a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https://github.com/knhbae/flowme2605/blob/2c951633d13adb0aab3ddd9d3cdddf506d9e97cd/docs/STATUS.md</a:t>
            </a:r>
          </a:p>
          <a:p xmlns:a="http://schemas.openxmlformats.org/drawingml/2006/main">
            <a:r>
              <a:t>- https://github.com/knhbae/flowme2605/blob/2c951633d13adb0aab3ddd9d3cdddf506d9e97cd/docs/ROADMAP.md</a:t>
            </a:r>
          </a:p>
          <a:p xmlns:a="http://schemas.openxmlformats.org/drawingml/2006/main">
            <a:r>
              <a:t>- https://github.com/knhbae/flowme2605/commits/main/</a:t>
            </a:r>
          </a:p>
          <a:p xmlns:a="http://schemas.openxmlformats.org/drawingml/2006/main">
            <a:r>
              <a:t>- https://github.com/knhbae/flowme2605/pulls?q=is%3Apr+is%3Aclosed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https://github.com/knhbae/flowme2605/pulls?q=is%3Apr+is%3Aclosed</a:t>
            </a:r>
          </a:p>
          <a:p xmlns:a="http://schemas.openxmlformats.org/drawingml/2006/main">
            <a:r>
              <a:t>- https://github.com/knhbae/flowme2605/commits/main/</a:t>
            </a:r>
          </a:p>
          <a:p xmlns:a="http://schemas.openxmlformats.org/drawingml/2006/main">
            <a:r>
              <a:t>- https://github.com/knhbae/flowme2605/blob/2c951633d13adb0aab3ddd9d3cdddf506d9e97cd/docs/content-audit/2026-07-25-p34-final-review-package/README.md</a:t>
            </a:r>
          </a:p>
          <a:p xmlns:a="http://schemas.openxmlformats.org/drawingml/2006/main">
            <a:r>
              <a:t>- https://github.com/knhbae/flowme2605/blob/2c951633d13adb0aab3ddd9d3cdddf506d9e97cd/docs/content-audit/2026-07-25-p34-final-review-package/journey-scorecard.json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https://github.com/knhbae/flowme2605/blob/2c951633d13adb0aab3ddd9d3cdddf506d9e97cd/docs/PRODUCT_PRINCIPLES.md</a:t>
            </a:r>
          </a:p>
          <a:p xmlns:a="http://schemas.openxmlformats.org/drawingml/2006/main">
            <a:r>
              <a:t>- https://github.com/knhbae/flowme2605/blob/2c951633d13adb0aab3ddd9d3cdddf506d9e97cd/docs/STATUS.md</a:t>
            </a:r>
          </a:p>
          <a:p xmlns:a="http://schemas.openxmlformats.org/drawingml/2006/main">
            <a:r>
              <a:t>- https://github.com/knhbae/flowme2605/blob/2c951633d13adb0aab3ddd9d3cdddf506d9e97cd/docs/content-audit/2026-07-25-p34-final-review-package/journey-scorecard.json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https://github.com/knhbae/flowme2605/commits/main/</a:t>
            </a:r>
          </a:p>
          <a:p xmlns:a="http://schemas.openxmlformats.org/drawingml/2006/main">
            <a:r>
              <a:t>- https://github.com/knhbae/flowme2605/blob/2c951633d13adb0aab3ddd9d3cdddf506d9e97cd/docs/ROADMAP.md</a:t>
            </a:r>
          </a:p>
          <a:p xmlns:a="http://schemas.openxmlformats.org/drawingml/2006/main">
            <a:r>
              <a:t>- https://github.com/knhbae/flowme2605/blob/2c951633d13adb0aab3ddd9d3cdddf506d9e97cd/docs/specs/README.md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https://github.com/knhbae/flowme2605/blob/2c951633d13adb0aab3ddd9d3cdddf506d9e97cd/docs/ROADMAP.md</a:t>
            </a:r>
          </a:p>
          <a:p xmlns:a="http://schemas.openxmlformats.org/drawingml/2006/main">
            <a:r>
              <a:t>- https://github.com/knhbae/flowme2605/blob/2c951633d13adb0aab3ddd9d3cdddf506d9e97cd/docs/SERVICE_STRUCTURE.md</a:t>
            </a:r>
          </a:p>
          <a:p xmlns:a="http://schemas.openxmlformats.org/drawingml/2006/main">
            <a:r>
              <a:t>- https://github.com/knhbae/flowme2605/blob/2c951633d13adb0aab3ddd9d3cdddf506d9e97cd/docs/PRODUCT_PRINCIPLES.md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https://github.com/knhbae/flowme2605/blob/2c951633d13adb0aab3ddd9d3cdddf506d9e97cd/docs/content-audit/2026-07-24-p32-final-review-package/README.md</a:t>
            </a:r>
          </a:p>
          <a:p xmlns:a="http://schemas.openxmlformats.org/drawingml/2006/main">
            <a:r>
              <a:t>- https://github.com/knhbae/flowme2605/blob/2c951633d13adb0aab3ddd9d3cdddf506d9e97cd/docs/SERVICE_STRUCTURE.md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https://github.com/knhbae/flowme2605/commits/main/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git log aggregation on 2026-07-25.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https://github.com/knhbae/flowme2605/blob/2c951633d13adb0aab3ddd9d3cdddf506d9e97cd/docs/content-audit/2026-07-25-p34-final-review-package/README.md</a:t>
            </a:r>
          </a:p>
          <a:p xmlns:a="http://schemas.openxmlformats.org/drawingml/2006/main">
            <a:r>
              <a:t>- https://github.com/knhbae/flowme2605/blob/2c951633d13adb0aab3ddd9d3cdddf506d9e97cd/docs/STATUS.md</a:t>
            </a:r>
          </a:p>
          <a:p xmlns:a="http://schemas.openxmlformats.org/drawingml/2006/main">
            <a:r>
              <a:t>- https://github.com/knhbae/flowme2605/blob/2c951633d13adb0aab3ddd9d3cdddf506d9e97cd/docs/TOOLING.md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https://github.com/knhbae/flowme2605/blob/2c951633d13adb0aab3ddd9d3cdddf506d9e97cd/docs/ROADMAP.md</a:t>
            </a:r>
          </a:p>
          <a:p xmlns:a="http://schemas.openxmlformats.org/drawingml/2006/main">
            <a:r>
              <a:t>- https://github.com/knhbae/flowme2605/blob/2c951633d13adb0aab3ddd9d3cdddf506d9e97cd/docs/STATUS.md</a:t>
            </a:r>
          </a:p>
          <a:p xmlns:a="http://schemas.openxmlformats.org/drawingml/2006/main">
            <a:r>
              <a:t>- https://github.com/knhbae/flowme2605/blob/2c951633d13adb0aab3ddd9d3cdddf506d9e97cd/docs/specs/README.md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https://github.com/knhbae/flowme2605/blob/2c951633d13adb0aab3ddd9d3cdddf506d9e97cd/docs/content-audit/2026-07-25-p34-final-review-package/journey-scorecard.json</a:t>
            </a:r>
          </a:p>
          <a:p xmlns:a="http://schemas.openxmlformats.org/drawingml/2006/main">
            <a:r>
              <a:t>- https://github.com/knhbae/flowme2605/blob/2c951633d13adb0aab3ddd9d3cdddf506d9e97cd/docs/content-audit/2026-07-25-p34-final-review-package/README.md</a:t>
            </a:r>
          </a:p>
          <a:p xmlns:a="http://schemas.openxmlformats.org/drawingml/2006/main">
            <a:r>
              <a:t>- https://github.com/knhbae/flowme2605/blob/2c951633d13adb0aab3ddd9d3cdddf506d9e97cd/docs/specs/README.md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https://github.com/knhbae/flowme2605/blob/2c951633d13adb0aab3ddd9d3cdddf506d9e97cd/docs/STATUS.md</a:t>
            </a:r>
          </a:p>
          <a:p xmlns:a="http://schemas.openxmlformats.org/drawingml/2006/main">
            <a:r>
              <a:t>- https://github.com/knhbae/flowme2605/blob/2c951633d13adb0aab3ddd9d3cdddf506d9e97cd/docs/HISTORY.md</a:t>
            </a:r>
          </a:p>
          <a:p xmlns:a="http://schemas.openxmlformats.org/drawingml/2006/main">
            <a:r>
              <a:t>- https://github.com/knhbae/flowme2605/blob/2c951633d13adb0aab3ddd9d3cdddf506d9e97cd/docs/content-audit/2026-07-25-p34-final-review-package/journey-scorecard.json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https://github.com/knhbae/flowme2605/blob/2c951633d13adb0aab3ddd9d3cdddf506d9e97cd/docs/STATUS.md</a:t>
            </a:r>
          </a:p>
          <a:p xmlns:a="http://schemas.openxmlformats.org/drawingml/2006/main">
            <a:r>
              <a:t>- https://github.com/knhbae/flowme2605/blob/2c951633d13adb0aab3ddd9d3cdddf506d9e97cd/docs/ROADMAP.md</a:t>
            </a:r>
          </a:p>
          <a:p xmlns:a="http://schemas.openxmlformats.org/drawingml/2006/main">
            <a:r>
              <a:t>- https://github.com/knhbae/flowme2605/blob/2c951633d13adb0aab3ddd9d3cdddf506d9e97cd/docs/HISTORY.md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https://github.com/knhbae/flowme2605/blob/2c951633d13adb0aab3ddd9d3cdddf506d9e97cd/docs/ROADMAP.md</a:t>
            </a:r>
          </a:p>
          <a:p xmlns:a="http://schemas.openxmlformats.org/drawingml/2006/main">
            <a:r>
              <a:t>- https://github.com/knhbae/flowme2605/blob/2c951633d13adb0aab3ddd9d3cdddf506d9e97cd/docs/specs/README.md</a:t>
            </a:r>
          </a:p>
          <a:p xmlns:a="http://schemas.openxmlformats.org/drawingml/2006/main">
            <a:r>
              <a:t>- https://github.com/knhbae/flowme2605/blob/2c951633d13adb0aab3ddd9d3cdddf506d9e97cd/docs/content-audit/2026-07-25-p34-final-review-package/README.md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https://github.com/knhbae/flowme2605/blob/2c951633d13adb0aab3ddd9d3cdddf506d9e97cd/docs/content-audit/2026-07-25-p34-final-review-package/journey-scorecard.json</a:t>
            </a:r>
          </a:p>
          <a:p xmlns:a="http://schemas.openxmlformats.org/drawingml/2006/main">
            <a:r>
              <a:t>- https://github.com/knhbae/flowme2605/blob/2c951633d13adb0aab3ddd9d3cdddf506d9e97cd/docs/PRODUCT_PRINCIPLES.md</a:t>
            </a:r>
          </a:p>
          <a:p xmlns:a="http://schemas.openxmlformats.org/drawingml/2006/main">
            <a:r>
              <a:t>- https://github.com/knhbae/flowme2605/blob/2c951633d13adb0aab3ddd9d3cdddf506d9e97cd/docs/specs/README.md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https://github.com/knhbae/flowme2605/blob/2c951633d13adb0aab3ddd9d3cdddf506d9e97cd/docs/SERVICE_STRUCTURE.md</a:t>
            </a:r>
          </a:p>
          <a:p xmlns:a="http://schemas.openxmlformats.org/drawingml/2006/main">
            <a:r>
              <a:t>- https://github.com/knhbae/flowme2605/blob/2c951633d13adb0aab3ddd9d3cdddf506d9e97cd/docs/ROADMAP.md</a:t>
            </a:r>
          </a:p>
          <a:p xmlns:a="http://schemas.openxmlformats.org/drawingml/2006/main">
            <a:r>
              <a:t>- https://github.com/knhbae/flowme2605/blob/2c951633d13adb0aab3ddd9d3cdddf506d9e97cd/docs/PRODUCT_PRINCIPLES.md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https://github.com/knhbae/flowme2605/pulls?q=is%3Apr+is%3Aclosed</a:t>
            </a:r>
          </a:p>
          <a:p xmlns:a="http://schemas.openxmlformats.org/drawingml/2006/main">
            <a:r>
              <a:t>- https://github.com/knhbae/flowme2605/pull/156</a:t>
            </a:r>
          </a:p>
          <a:p xmlns:a="http://schemas.openxmlformats.org/drawingml/2006/main">
            <a:r>
              <a:t>- https://github.com/knhbae/flowme2605/pull/157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 PR timestamp aggregation on 2026-07-25.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https://github.com/knhbae/flowme2605/pull/156</a:t>
            </a:r>
          </a:p>
          <a:p xmlns:a="http://schemas.openxmlformats.org/drawingml/2006/main">
            <a:r>
              <a:t>- https://github.com/knhbae/flowme2605/pull/157</a:t>
            </a:r>
          </a:p>
          <a:p xmlns:a="http://schemas.openxmlformats.org/drawingml/2006/main">
            <a:r>
              <a:t>- https://github.com/knhbae/flowme2605/pull/158</a:t>
            </a:r>
          </a:p>
          <a:p xmlns:a="http://schemas.openxmlformats.org/drawingml/2006/main">
            <a:r>
              <a:t>- https://github.com/knhbae/flowme2605/blob/2c951633d13adb0aab3ddd9d3cdddf506d9e97cd/docs/STATUS.md</a:t>
            </a:r>
          </a:p>
          <a:p xmlns:a="http://schemas.openxmlformats.org/drawingml/2006/main">
            <a:r>
              <a:t>- https://github.com/knhbae/flowme2605/blob/2c951633d13adb0aab3ddd9d3cdddf506d9e97cd/docs/ROADMAP.md</a:t>
            </a:r>
          </a:p>
          <a:p xmlns:a="http://schemas.openxmlformats.org/drawingml/2006/main">
            <a:r>
              <a:t>- https://github.com/knhbae/flowme2605/blob/2c951633d13adb0aab3ddd9d3cdddf506d9e97cd/docs/HISTORY.md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https://github.com/knhbae/flowme2605/commits/main/</a:t>
            </a:r>
          </a:p>
          <a:p xmlns:a="http://schemas.openxmlformats.org/drawingml/2006/main">
            <a:r>
              <a:t>- https://github.com/knhbae/flowme2605/blob/2c951633d13adb0aab3ddd9d3cdddf506d9e97cd/docs/SERVICE_STRUCTURE.md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 source line and git-path aggregation on 2026-07-25.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https://github.com/knhbae/flowme2605/blob/2c951633d13adb0aab3ddd9d3cdddf506d9e97cd/docs/ROADMAP.md</a:t>
            </a:r>
          </a:p>
          <a:p xmlns:a="http://schemas.openxmlformats.org/drawingml/2006/main">
            <a:r>
              <a:t>- https://github.com/knhbae/flowme2605/blob/2c951633d13adb0aab3ddd9d3cdddf506d9e97cd/docs/STATUS.md</a:t>
            </a:r>
          </a:p>
          <a:p xmlns:a="http://schemas.openxmlformats.org/drawingml/2006/main">
            <a:r>
              <a:t>- https://github.com/knhbae/flowme2605/blob/2c951633d13adb0aab3ddd9d3cdddf506d9e97cd/docs/HISTORY.md</a:t>
            </a:r>
          </a:p>
          <a:p xmlns:a="http://schemas.openxmlformats.org/drawingml/2006/main">
            <a:r>
              <a:t>- https://github.com/knhbae/flowme2605/blob/2c951633d13adb0aab3ddd9d3cdddf506d9e97cd/docs/specs/README.md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https://github.com/knhbae/flowme2605/blob/2c951633d13adb0aab3ddd9d3cdddf506d9e97cd/docs/ROADMAP.md</a:t>
            </a:r>
          </a:p>
          <a:p xmlns:a="http://schemas.openxmlformats.org/drawingml/2006/main">
            <a:r>
              <a:t>- https://github.com/knhbae/flowme2605/blob/2c951633d13adb0aab3ddd9d3cdddf506d9e97cd/docs/STATUS.md</a:t>
            </a:r>
          </a:p>
          <a:p xmlns:a="http://schemas.openxmlformats.org/drawingml/2006/main">
            <a:r>
              <a:t>- https://github.com/knhbae/flowme2605/blob/2c951633d13adb0aab3ddd9d3cdddf506d9e97cd/docs/specs/README.md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https://github.com/knhbae/flowme2605/blob/2c951633d13adb0aab3ddd9d3cdddf506d9e97cd/docs/ROADMAP.md</a:t>
            </a:r>
          </a:p>
          <a:p xmlns:a="http://schemas.openxmlformats.org/drawingml/2006/main">
            <a:r>
              <a:t>- https://github.com/knhbae/flowme2605/blob/2c951633d13adb0aab3ddd9d3cdddf506d9e97cd/docs/STATUS.md</a:t>
            </a:r>
          </a:p>
          <a:p xmlns:a="http://schemas.openxmlformats.org/drawingml/2006/main">
            <a:r>
              <a:t>- https://github.com/knhbae/flowme2605/blob/2c951633d13adb0aab3ddd9d3cdddf506d9e97cd/docs/harness/README.md</a:t>
            </a:r>
          </a:p>
          <a:p xmlns:a="http://schemas.openxmlformats.org/drawingml/2006/main">
            <a:r>
              <a:t>- https://github.com/knhbae/flowme2605/blob/2c951633d13adb0aab3ddd9d3cdddf506d9e97cd/docs/SERVICE_STRUCTURE.md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https://github.com/knhbae/flowme2605/blob/2c951633d13adb0aab3ddd9d3cdddf506d9e97cd/docs/STATUS.md</a:t>
            </a:r>
          </a:p>
          <a:p xmlns:a="http://schemas.openxmlformats.org/drawingml/2006/main">
            <a:r>
              <a:t>- https://github.com/knhbae/flowme2605/blob/2c951633d13adb0aab3ddd9d3cdddf506d9e97cd/docs/content-audit/2026-07-25-p34-final-review-package/README.md</a:t>
            </a:r>
          </a:p>
          <a:p xmlns:a="http://schemas.openxmlformats.org/drawingml/2006/main">
            <a:r>
              <a:t>- https://github.com/knhbae/flowme2605/blob/2c951633d13adb0aab3ddd9d3cdddf506d9e97cd/docs/content-audit/2026-07-25-p34-final-review-package/journey-scorecard.json</a:t>
            </a:r>
          </a:p>
          <a:p xmlns:a="http://schemas.openxmlformats.org/drawingml/2006/main">
            <a:r>
              <a:t>- https://github.com/knhbae/flowme2605/pull/156</a:t>
            </a:r>
          </a:p>
          <a:p xmlns:a="http://schemas.openxmlformats.org/drawingml/2006/main">
            <a:r>
              <a:t>- https://github.com/knhbae/flowme2605/pull/157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https://github.com/knhbae/flowme2605/blob/2c951633d13adb0aab3ddd9d3cdddf506d9e97cd/docs/PRODUCT_PRINCIPLES.md</a:t>
            </a:r>
          </a:p>
          <a:p xmlns:a="http://schemas.openxmlformats.org/drawingml/2006/main">
            <a:r>
              <a:t>- https://github.com/knhbae/flowme2605/blob/2c951633d13adb0aab3ddd9d3cdddf506d9e97cd/docs/content-audit/2026-07-25-p34-final-review-package/journey-scorecard.json</a:t>
            </a:r>
          </a:p>
          <a:p xmlns:a="http://schemas.openxmlformats.org/drawingml/2006/main">
            <a:r>
              <a:t>- https://github.com/knhbae/flowme2605/blob/2c951633d13adb0aab3ddd9d3cdddf506d9e97cd/docs/STATUS.md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https://github.com/knhbae/flowme2605/blob/2c951633d13adb0aab3ddd9d3cdddf506d9e97cd/docs/PRODUCT_PRINCIPLES.md</a:t>
            </a:r>
          </a:p>
          <a:p xmlns:a="http://schemas.openxmlformats.org/drawingml/2006/main">
            <a:r>
              <a:t>- https://github.com/knhbae/flowme2605/blob/2c951633d13adb0aab3ddd9d3cdddf506d9e97cd/docs/harness/README.md</a:t>
            </a:r>
          </a:p>
          <a:p xmlns:a="http://schemas.openxmlformats.org/drawingml/2006/main">
            <a:r>
              <a:t>- https://github.com/knhbae/flowme2605/blob/2c951633d13adb0aab3ddd9d3cdddf506d9e97cd/docs/ROADMAP.md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https://github.com/knhbae/flowme2605/blob/2c951633d13adb0aab3ddd9d3cdddf506d9e97cd/docs/STATUS.md</a:t>
            </a:r>
          </a:p>
          <a:p xmlns:a="http://schemas.openxmlformats.org/drawingml/2006/main">
            <a:r>
              <a:t>- https://github.com/knhbae/flowme2605/blob/2c951633d13adb0aab3ddd9d3cdddf506d9e97cd/docs/HISTORY.md</a:t>
            </a:r>
          </a:p>
          <a:p xmlns:a="http://schemas.openxmlformats.org/drawingml/2006/main">
            <a:r>
              <a:t>- https://github.com/knhbae/flowme2605/blob/2c951633d13adb0aab3ddd9d3cdddf506d9e97cd/docs/PRODUCT_PRINCIPLES.md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https://github.com/knhbae/flowme2605/blob/2c951633d13adb0aab3ddd9d3cdddf506d9e97cd/docs/harness/README.md</a:t>
            </a:r>
          </a:p>
          <a:p xmlns:a="http://schemas.openxmlformats.org/drawingml/2006/main">
            <a:r>
              <a:t>- https://github.com/knhbae/flowme2605/blob/2c951633d13adb0aab3ddd9d3cdddf506d9e97cd/docs/PRODUCT_PRINCIPLES.md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https://github.com/knhbae/flowme2605/blob/2c951633d13adb0aab3ddd9d3cdddf506d9e97cd/docs/harness/README.md</a:t>
            </a:r>
          </a:p>
          <a:p xmlns:a="http://schemas.openxmlformats.org/drawingml/2006/main">
            <a:r>
              <a:t>- https://github.com/knhbae/flowme2605/blob/2c951633d13adb0aab3ddd9d3cdddf506d9e97cd/docs/TOOLING.md</a:t>
            </a:r>
          </a:p>
          <a:p xmlns:a="http://schemas.openxmlformats.org/drawingml/2006/main">
            <a:r>
              <a:t>- https://github.com/knhbae/flowme2605/blob/2c951633d13adb0aab3ddd9d3cdddf506d9e97cd/docs/PRODUCT_PRINCIPLES.md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https://github.com/knhbae/flowme2605/blob/2c951633d13adb0aab3ddd9d3cdddf506d9e97cd/docs/PRODUCT_PRINCIPLES.md</a:t>
            </a:r>
          </a:p>
          <a:p xmlns:a="http://schemas.openxmlformats.org/drawingml/2006/main">
            <a:r>
              <a:t>- https://github.com/knhbae/flowme2605/blob/2c951633d13adb0aab3ddd9d3cdddf506d9e97cd/docs/content-audit/2026-07-25-p34-final-review-package/journey-scorecard.json</a:t>
            </a:r>
          </a:p>
          <a:p xmlns:a="http://schemas.openxmlformats.org/drawingml/2006/main">
            <a:r>
              <a:t>- https://github.com/knhbae/flowme2605/blob/2c951633d13adb0aab3ddd9d3cdddf506d9e97cd/docs/TOOLING.md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https://github.com/knhbae/flowme2605/blob/2c951633d13adb0aab3ddd9d3cdddf506d9e97cd/docs/PRODUCT_PRINCIPLES.md</a:t>
            </a:r>
          </a:p>
          <a:p xmlns:a="http://schemas.openxmlformats.org/drawingml/2006/main">
            <a:r>
              <a:t>- https://github.com/knhbae/flowme2605/blob/2c951633d13adb0aab3ddd9d3cdddf506d9e97cd/docs/STATUS.md</a:t>
            </a:r>
          </a:p>
          <a:p xmlns:a="http://schemas.openxmlformats.org/drawingml/2006/main">
            <a:r>
              <a:t>- https://github.com/knhbae/flowme2605/blob/2c951633d13adb0aab3ddd9d3cdddf506d9e97cd/docs/harness/README.md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https://github.com/knhbae/flowme2605/blob/2c951633d13adb0aab3ddd9d3cdddf506d9e97cd/docs/harness/README.md</a:t>
            </a:r>
          </a:p>
          <a:p xmlns:a="http://schemas.openxmlformats.org/drawingml/2006/main">
            <a:r>
              <a:t>- https://github.com/knhbae/flowme2605/blob/2c951633d13adb0aab3ddd9d3cdddf506d9e97cd/docs/TOOLING.md</a:t>
            </a:r>
          </a:p>
          <a:p xmlns:a="http://schemas.openxmlformats.org/drawingml/2006/main">
            <a:r>
              <a:t>- https://github.com/knhbae/flowme2605/blob/2c951633d13adb0aab3ddd9d3cdddf506d9e97cd/docs/STATUS.md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https://github.com/knhbae/flowme2605/blob/2c951633d13adb0aab3ddd9d3cdddf506d9e97cd/docs/harness/README.md</a:t>
            </a:r>
          </a:p>
          <a:p xmlns:a="http://schemas.openxmlformats.org/drawingml/2006/main">
            <a:r>
              <a:t>- https://github.com/knhbae/flowme2605/blob/2c951633d13adb0aab3ddd9d3cdddf506d9e97cd/docs/PRODUCT_PRINCIPLES.md</a:t>
            </a:r>
          </a:p>
          <a:p xmlns:a="http://schemas.openxmlformats.org/drawingml/2006/main">
            <a:r>
              <a:t>- https://github.com/knhbae/flowme2605/blob/2c951633d13adb0aab3ddd9d3cdddf506d9e97cd/docs/content-audit/2026-07-25-p34-final-review-package/journey-scorecard.json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https://github.com/knhbae/flowme2605/blob/2c951633d13adb0aab3ddd9d3cdddf506d9e97cd/docs/STATUS.md</a:t>
            </a:r>
          </a:p>
          <a:p xmlns:a="http://schemas.openxmlformats.org/drawingml/2006/main">
            <a:r>
              <a:t>- https://github.com/knhbae/flowme2605/blob/2c951633d13adb0aab3ddd9d3cdddf506d9e97cd/docs/HISTORY.md</a:t>
            </a:r>
          </a:p>
          <a:p xmlns:a="http://schemas.openxmlformats.org/drawingml/2006/main">
            <a:r>
              <a:t>- https://github.com/knhbae/flowme2605/blob/2c951633d13adb0aab3ddd9d3cdddf506d9e97cd/docs/PRODUCT_PRINCIPLES.md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376424c9748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adba03d09142da" /><Relationship Type="http://schemas.openxmlformats.org/officeDocument/2006/relationships/slideLayout" Target="/ppt/slideLayouts/slideLayout1.xml" Id="R98b546fcfaff4b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b546fcfaff4b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cd0e296074f5b" /><Relationship Type="http://schemas.openxmlformats.org/officeDocument/2006/relationships/notesSlide" Target="/ppt/notesSlides/notesSlide1.xml" Id="R720e5ff36d1b43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3740aa5344f62" /><Relationship Type="http://schemas.openxmlformats.org/officeDocument/2006/relationships/notesSlide" Target="/ppt/notesSlides/notesSlide2.xml" Id="R0426bb5cb4a048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cad8c3bf247a7" /><Relationship Type="http://schemas.openxmlformats.org/officeDocument/2006/relationships/notesSlide" Target="/ppt/notesSlides/notesSlide3.xml" Id="R7252d403731045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b02f2ab3d44e3" /><Relationship Type="http://schemas.openxmlformats.org/officeDocument/2006/relationships/notesSlide" Target="/ppt/notesSlides/notesSlide4.xml" Id="R5bafd877dcf84f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1272f2d5140db" /><Relationship Type="http://schemas.openxmlformats.org/officeDocument/2006/relationships/notesSlide" Target="/ppt/notesSlides/notesSlide5.xml" Id="R16e0a19a4a7043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2953f51dd45f8" /><Relationship Type="http://schemas.openxmlformats.org/officeDocument/2006/relationships/image" Target="/ppt/media/image.png" Id="Rcde8f76efebf4525" /><Relationship Type="http://schemas.openxmlformats.org/officeDocument/2006/relationships/notesSlide" Target="/ppt/notesSlides/notesSlide6.xml" Id="R5969340adc5d48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7974c7bed47e3" /><Relationship Type="http://schemas.openxmlformats.org/officeDocument/2006/relationships/notesSlide" Target="/ppt/notesSlides/notesSlide7.xml" Id="R3e4d54374a744b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7a49625374bee" /><Relationship Type="http://schemas.openxmlformats.org/officeDocument/2006/relationships/notesSlide" Target="/ppt/notesSlides/notesSlide8.xml" Id="R2d530b4cb4204c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7f5ed4ce44b1b" /><Relationship Type="http://schemas.openxmlformats.org/officeDocument/2006/relationships/notesSlide" Target="/ppt/notesSlides/notesSlide9.xml" Id="Re65d06d7220044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0bc198d0e4697" /><Relationship Type="http://schemas.openxmlformats.org/officeDocument/2006/relationships/notesSlide" Target="/ppt/notesSlides/notesSlide10.xml" Id="R33b59541e5a548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06fac75d746b9" /><Relationship Type="http://schemas.openxmlformats.org/officeDocument/2006/relationships/notesSlide" Target="/ppt/notesSlides/notesSlide11.xml" Id="R1654c9236fac45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78ea9e0454ec1" /><Relationship Type="http://schemas.openxmlformats.org/officeDocument/2006/relationships/notesSlide" Target="/ppt/notesSlides/notesSlide12.xml" Id="R161e2328e37d4b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c6a2e6e914b6c" /><Relationship Type="http://schemas.openxmlformats.org/officeDocument/2006/relationships/notesSlide" Target="/ppt/notesSlides/notesSlide13.xml" Id="R3406c6511c2b40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ab994e3d143fb" /><Relationship Type="http://schemas.openxmlformats.org/officeDocument/2006/relationships/notesSlide" Target="/ppt/notesSlides/notesSlide14.xml" Id="Ra8339b99964a4c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55831c2874a60" /><Relationship Type="http://schemas.openxmlformats.org/officeDocument/2006/relationships/notesSlide" Target="/ppt/notesSlides/notesSlide15.xml" Id="Ra674ab6740c849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d4a7ff3a94787" /><Relationship Type="http://schemas.openxmlformats.org/officeDocument/2006/relationships/notesSlide" Target="/ppt/notesSlides/notesSlide16.xml" Id="R6f27e60d769744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a7abe2cde410b" /><Relationship Type="http://schemas.openxmlformats.org/officeDocument/2006/relationships/notesSlide" Target="/ppt/notesSlides/notesSlide17.xml" Id="Rfd04eeeaaed143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d67b5356945a6" /><Relationship Type="http://schemas.openxmlformats.org/officeDocument/2006/relationships/notesSlide" Target="/ppt/notesSlides/notesSlide18.xml" Id="Rb9d8887174514b8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918c181bb4a0a" /><Relationship Type="http://schemas.openxmlformats.org/officeDocument/2006/relationships/notesSlide" Target="/ppt/notesSlides/notesSlide19.xml" Id="Rb35d68a13dd14b7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65aceb4eb456f" /><Relationship Type="http://schemas.openxmlformats.org/officeDocument/2006/relationships/notesSlide" Target="/ppt/notesSlides/notesSlide20.xml" Id="Re1b32d6c79a64d9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7a42b49f54412" /><Relationship Type="http://schemas.openxmlformats.org/officeDocument/2006/relationships/notesSlide" Target="/ppt/notesSlides/notesSlide21.xml" Id="Rac1712db2488456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97d9a8525455d" /><Relationship Type="http://schemas.openxmlformats.org/officeDocument/2006/relationships/notesSlide" Target="/ppt/notesSlides/notesSlide22.xml" Id="R5a984afd0f3345b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ef5d08d9a4356" /><Relationship Type="http://schemas.openxmlformats.org/officeDocument/2006/relationships/notesSlide" Target="/ppt/notesSlides/notesSlide23.xml" Id="Rc8544c962f4f4fc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ca855deff4fa8" /><Relationship Type="http://schemas.openxmlformats.org/officeDocument/2006/relationships/notesSlide" Target="/ppt/notesSlides/notesSlide24.xml" Id="Rc9da3791d590465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9a410b5cc4fc8" /><Relationship Type="http://schemas.openxmlformats.org/officeDocument/2006/relationships/notesSlide" Target="/ppt/notesSlides/notesSlide25.xml" Id="R628c03d0a149485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58407afa34300" /><Relationship Type="http://schemas.openxmlformats.org/officeDocument/2006/relationships/notesSlide" Target="/ppt/notesSlides/notesSlide26.xml" Id="Rfc9f87600b14436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4841626634611" /><Relationship Type="http://schemas.openxmlformats.org/officeDocument/2006/relationships/notesSlide" Target="/ppt/notesSlides/notesSlide27.xml" Id="R6d4189b0456b48d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e5ec842c64b38" /><Relationship Type="http://schemas.openxmlformats.org/officeDocument/2006/relationships/notesSlide" Target="/ppt/notesSlides/notesSlide28.xml" Id="R56cad5dbc4cd45a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91f6cf3864d1b" /><Relationship Type="http://schemas.openxmlformats.org/officeDocument/2006/relationships/notesSlide" Target="/ppt/notesSlides/notesSlide29.xml" Id="R619d60c0d388417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96cb887c7402d" /><Relationship Type="http://schemas.openxmlformats.org/officeDocument/2006/relationships/notesSlide" Target="/ppt/notesSlides/notesSlide30.xml" Id="R741a26eda18b482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f654566f54cee" /><Relationship Type="http://schemas.openxmlformats.org/officeDocument/2006/relationships/notesSlide" Target="/ppt/notesSlides/notesSlide31.xml" Id="R7b170e09c69d4e9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a0ca9666d4a76" /><Relationship Type="http://schemas.openxmlformats.org/officeDocument/2006/relationships/notesSlide" Target="/ppt/notesSlides/notesSlide32.xml" Id="Rcae33dc8170e4d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C1E2E-86F5-4133-8587-73C3ADF0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46F65-8592-40F0-9B1A-C45E5638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· 2026.07.25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D0E32-FD5A-4269-8CF2-7C0349CA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876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진척은 느린가?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8587E-8737-42D6-A96F-8FBC87C7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895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개발 속도와 제품 수렴 속도를 분리한 전면 리뷰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3CEDC-FB95-448D-BCE9-B450E7B3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A2C38-1285-4E5F-A923-7925BAE3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결론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78E2B-3B2D-4565-9ACA-E68FEF06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많이 만들었지만, 아직 사용자가 이해할 한 경로로 모이지 않았다.</a:t>
            </a:r>
          </a:p>
        </p:txBody>
      </p:sp>
    </p:spTree>
    <p:extLst>
      <p:ext uri="{BB962C8B-B14F-4D97-AF65-F5344CB8AC3E}">
        <p14:creationId xmlns:p14="http://schemas.microsoft.com/office/powerpoint/2010/main" val="6669157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27D77-E24B-4083-BB2F-1479BB2B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FAE4B-A2A8-4FE1-BA23-6CF7C74E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ED85C-E51F-4373-AB01-03433FCF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개발은 빠르지만, 제품 수렴은 느리다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2C886-4F7C-4BAC-B4DF-C26DD5FC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038DA-3900-4B76-B2BB-47D67CAB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테스트 가능한 한 경로로 아직 모이지 못했다.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24435-0FDD-4CEF-982C-17162CCC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151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19FB7-1F45-4A0B-9C89-662674B7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5월 20일 이후 병합 PR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4B8A1-894A-4000-890B-BE66C3CC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432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737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6BD0C-376E-405F-A7D3-A5E987AA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957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동일 기간 커밋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388A6-C2C4-497F-B255-5E8A662F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326/326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934D1-6A48-47C1-AA1C-DA217554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957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P34 전체 브라우저 자동화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2E3A8-DFF9-4FF1-903E-C6C8B0F8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9A659-65D3-418B-BF7E-27DB2575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957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관찰 사용자 · gate 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9C7F0-AFFD-4614-9D12-64D39AAB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문제는 테스트를 안 한 것이 아니라, 테스트할 최소 경험의 종료 기준이 없었다.</a:t>
            </a:r>
          </a:p>
        </p:txBody>
      </p:sp>
    </p:spTree>
    <p:extLst>
      <p:ext uri="{BB962C8B-B14F-4D97-AF65-F5344CB8AC3E}">
        <p14:creationId xmlns:p14="http://schemas.microsoft.com/office/powerpoint/2010/main" val="16317279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63BF5-A5C4-4246-AC2A-E336E761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62F33-FEB4-4A4A-9D6E-87991246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674B2-4D3C-4E02-B2A2-239E2938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실제 사용자 학습에는 세 관문이 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8902B-3038-4CB0-A005-D5F9DA15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0B6DC-779E-4D58-9041-81C0CA70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3E297-71BA-4508-8D3A-F59C4ACF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산출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11B91-D0D7-4C17-A8B4-198E4377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코드 · 문서 · 테스트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BC329-C6FC-40BD-9FB0-4F7C22DB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1A857-32AE-4805-B083-D5E5980E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매우 높음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6C0C3-1769-4913-ACF4-B3FE28A2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859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436C8-1994-4D92-84C6-0FA0C63C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241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기능 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1ED37-560C-4900-ADB6-E1596A0E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48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브라우저 안의 한 바퀴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A4C55-0087-42E2-B006-DFB67719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338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E4866-D602-4C47-B36A-BC196881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005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넓게 구현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E54F5-BDB3-484C-A1A9-27F670AA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60146-8861-46FD-843F-3F72C243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테스트 가능성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32259-AB3F-4BCB-81FB-8818BC1E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설명 없는 한 경로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6D36B4-FF96-41BE-B477-7EC93B29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A66AA-ABD8-42B4-B478-62355FB8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아직 미승인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741B05-D1B5-4295-B4A5-DD323F1E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실제 사용자 학습은 ③을 통과한 뒤 시작한다. 지금 병목은 ③이다.</a:t>
            </a:r>
          </a:p>
        </p:txBody>
      </p:sp>
    </p:spTree>
    <p:extLst>
      <p:ext uri="{BB962C8B-B14F-4D97-AF65-F5344CB8AC3E}">
        <p14:creationId xmlns:p14="http://schemas.microsoft.com/office/powerpoint/2010/main" val="1256664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BED02-E445-4F91-ABB4-A0DF055C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C1A9A-3004-4B90-B72C-03FFF8C9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FE51E-01A0-4F4A-9C1C-21F5F30F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두 달은 네 번의 서로 다른 국면으로 흘렀다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540B6-7565-43DC-8464-3E3758EE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6CD53-8B1F-40CC-A472-D86584E0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9E48B-A8E8-4E8B-BEE3-5FC05FAA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A0A4E-9590-4152-852F-4D2DF27E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5/20–5/26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3BCF2-68C5-4AF4-B409-2CEFFB06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기반과 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C0E42-E272-46DE-B7FD-17D2D83E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2383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라우트·콘텐츠·export-first를 빠르게 확장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DFD64-80E6-4897-BEB5-24E55081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71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FA946-5D13-4CEC-8263-0518E629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00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A7D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BA7D8"/>
                </a:solidFill>
                <a:latin typeface="Noto Sans KR"/>
                <a:ea typeface="Noto Sans KR"/>
                <a:cs typeface="Noto Sans KR"/>
              </a:rPr>
              <a:t>6월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9C85D-5AE7-4C3C-9FD9-1FB389EB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193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리서치와 구조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0F156-AB97-41BC-9A00-C8244EF4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550"/>
            <a:ext cx="22383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콘텐츠 감사·IA·creator/Flow Map 탐색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F3A3C-B8CB-4BE9-B084-7AD15BDA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71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64E4B-3A17-4A60-B393-3FD61BFF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7/1–7/13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F0683-4224-42B8-B4D1-B8938978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193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계약 정리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AFA21B-076D-4B99-919E-D7F05BAB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22383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URL lookup·데이터 모델·하네스·백엔드 준비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9D82D-DA38-4928-BC0A-E3504913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71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34DF6-D199-4797-AA1F-BF5247EC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7/14–7/25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77BD3-712C-4B9C-B072-78FB4541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193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실행 UX 반복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A80317-73C4-4A03-80FD-63072C38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22383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P24부터 P34까지 연속 재구성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FDA820-EB4E-4424-AE36-959CC43A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문제는 활동이 없었던 것이 아니라, 국면 전환이 너무 자주 일어났다는 점이다.</a:t>
            </a:r>
          </a:p>
        </p:txBody>
      </p:sp>
    </p:spTree>
    <p:extLst>
      <p:ext uri="{BB962C8B-B14F-4D97-AF65-F5344CB8AC3E}">
        <p14:creationId xmlns:p14="http://schemas.microsoft.com/office/powerpoint/2010/main" val="9288686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2E5464-147F-4DB0-A1EA-0E57ECF9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3ADD3-66BE-48E7-AB60-50FF4320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066D2-B9C3-4A82-B22D-9189DBC4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브라우저 안에서 제품의 한 바퀴는 이미 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FC5F8-0280-4FAF-A65A-E60BDC3C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5EDB3-B862-48FE-8FAC-3B5BC14F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7075E-7088-440D-9E6C-9A2582FE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031CE-4944-4860-9FE9-471CF10F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38450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F792E-6A09-4E13-922A-63AD6EBF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URL·메모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4F922-CA1D-455B-A3A5-5A647E7F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가져오기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5DF9E-DF6D-4A80-B2BE-537D1EB4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130F0-E47F-4EDF-9BA2-2FE281FD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670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2FE04-3090-4800-9D21-77913F15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38450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5307A-F196-4E58-A0F9-0E4DDDDD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4290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Flow·초안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7A3DC-BFD1-492B-824A-3589EC19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8862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FC422-5B94-4BAF-B07B-73FAD996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5FA46-3639-4BE4-B92C-4CFD18F9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670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11873-8A8C-4150-9382-44BC03FF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38450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871BAE-2BFE-4F51-84A4-4B093213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290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저장·수정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B8A5FE-660D-49F7-AF04-00A90C32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862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개인화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97BC34-5182-41E1-A48B-AAF96876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DE298A-6C24-42BF-920F-1190B19C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670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20BE4C-8EC2-4BBE-B929-DFB4057A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838450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DD9025-3604-4683-B249-6FF9108B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4290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My 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00B68-B5F1-486A-8D77-DFF29058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8862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실행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EF9A3C-618A-4B36-9B03-A078A555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EB40D7-6354-4CD9-9225-7769BDCB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BB6459-58E1-4921-9EDF-FEA69E0F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38450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2FD0B0-079C-4FD4-963A-E6654D56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290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Calendar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EEAF65-2F53-4200-AB8C-45C4E302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862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배치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143B00-886F-4DEA-98F1-BA346E83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287D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3B4998-C6D2-4BEC-9FEF-F1A58898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6670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D577A5-A026-45C1-8527-BBC64AF6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4290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Export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B890D6-7A34-4119-B5BA-43DC2965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8862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외부 도구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ADFEDF-E7E0-4817-A9F1-8FB44E77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A5A7CC-E23A-45F3-B39D-47AB684D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현재 경계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960C09-9839-4770-BA70-CC0FE22D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14925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준비된 URL 또는 규칙 기반 초안 · 브라우저 로컬 저장 · 실제 AI/계정/외부 연동은 아직 아님</a:t>
            </a:r>
          </a:p>
        </p:txBody>
      </p:sp>
    </p:spTree>
    <p:extLst>
      <p:ext uri="{BB962C8B-B14F-4D97-AF65-F5344CB8AC3E}">
        <p14:creationId xmlns:p14="http://schemas.microsoft.com/office/powerpoint/2010/main" val="11983432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16642-9837-468A-AABC-5298FB0D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9744E-6243-498A-B154-9FD5D38A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AA3B5-37F3-442B-B66E-73C60C05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기능 PoC는 있지만, 테스트 가능한 제품 PoC는 미승인이다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4F3FC-0A87-44B7-AED4-932F443A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51466-4D13-481B-B9A4-CAF84B25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47825"/>
            <a:ext cx="74485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D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8f76efebf4525"/>
          <a:srcRect xmlns:a="http://schemas.openxmlformats.org/drawingml/2006/main" l="0" t="5077" r="0" b="5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57350"/>
            <a:ext cx="7429500" cy="417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FD320-0F4E-453D-87BC-4D08C909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90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이미 가능한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A3555-9C56-49F5-911E-998ADAB8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57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1827A-F683-43CA-9582-14A8E53C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27개 Flow 탐색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3CE98-B689-48B6-B486-BDCC966E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6F8D4-4CDE-4194-944D-E20E6040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한 Flow에 집중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EECD9-CF60-4097-89DD-BBF54FB9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8958C3-9108-4130-A855-D536548E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항목 실행·수정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F00DA-98C7-49A5-AF71-53D90A78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EC5EA-F22E-45B7-AAEB-C1D0128D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진척·export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E376A-E3B2-43DD-9DFE-AAD50E87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197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1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남은 질문은 ‘설명 없이 핵심 결과와 다음 행동이 보이는가’다.</a:t>
            </a:r>
          </a:p>
        </p:txBody>
      </p:sp>
    </p:spTree>
    <p:extLst>
      <p:ext uri="{BB962C8B-B14F-4D97-AF65-F5344CB8AC3E}">
        <p14:creationId xmlns:p14="http://schemas.microsoft.com/office/powerpoint/2010/main" val="4081384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D072EF-CF67-4759-9D72-F5F86366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9E8DF-E467-4303-BC8D-D436AC55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24A56-89A5-4328-9CEC-94E12DC8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산출 속도는 느리지 않다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F3DFB-792D-4CAE-AF22-AFC98819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D8E5F-A28D-4A9C-8615-1B052CD5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5/20–5/31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A6634-AD35-4627-BA9A-46FD3C8A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47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AC2B7-AB37-41DF-8250-87065491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47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2A9EA-C26F-4F89-9B7E-4A30575B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002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298 commits · 9 active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A673D-DD2A-444C-AD2E-3C7C2C4B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6월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71DB2-E95D-42C0-9DAC-C7047261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289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A4F31-2E54-40B2-8C10-80AE0783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28900"/>
            <a:ext cx="108163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E5CCF-8371-492C-8E53-08D35D6D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812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47 commits · 10 active days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C2123-16ED-4D25-8D6C-57848943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7/1–7/13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C9D4A-D9F4-446D-9ED4-AB2BCEE7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099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E5DA7-E897-41EC-86F0-A11A29AE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09950"/>
            <a:ext cx="570732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A6080-59B9-4308-8411-7CA295EC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623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248 commits · 13 active days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7C679-C149-4A54-A91A-D39E4A2C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7/14–7/18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CD9AA-9B8E-4A70-9D03-AA3C35C7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910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CB389-EBE1-436B-A4A5-BAB38C06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91000"/>
            <a:ext cx="1242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C825B3-AD59-4ECA-BB36-9D9A5B01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433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54 commits · 3 active days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5DBB7C-4339-4AE7-86C6-F23D46E7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7/19–7/25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F399ED-1360-4D8A-8391-8407A6B5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720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1287C9-B426-4C79-B270-383C1116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72050"/>
            <a:ext cx="207120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D9EAFA-52E5-458C-AD21-EBDE83C0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244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90 commits · 7 active days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CC5E10-D2BB-43D5-8E1C-6E7416E6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1139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42일 활동 · 총 737커밋</a:t>
            </a:r>
          </a:p>
        </p:txBody>
      </p:sp>
    </p:spTree>
    <p:extLst>
      <p:ext uri="{BB962C8B-B14F-4D97-AF65-F5344CB8AC3E}">
        <p14:creationId xmlns:p14="http://schemas.microsoft.com/office/powerpoint/2010/main" val="17202694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CE32F-BFA9-42AB-9C81-B40ABFED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88ABC-0FC1-45F4-85B5-C818064B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257D3-D94C-4BD7-9FE9-228957B8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자동 품질 보증은 강한 편이다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6D310-F179-4ADF-9AD2-A3D54052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59655-1D65-4C0F-B454-4E0DBDF0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3,151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C5A48-1A83-4B24-B64D-AC4D1F25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현재 문서 내부 링크 검사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6DBE9-7E31-460B-82EF-6C270C04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73 + 588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E805D-071C-46E0-8ED3-551851C5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051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사전 계약 + 단위 테스트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E45A7-3B32-4691-9ED4-B5CC43C6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A40D4-7DAC-4E1B-9AEF-14838453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프로덕션 빌드 라우트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9857D-9AD2-4021-9CF0-D5A5BA0E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52625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39306-48D2-4497-9393-7ADAEE3B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051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high 기준 취약점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7B1F6-1AAB-4417-94F9-993DB5D2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CFA84-ED50-47C3-8050-16A69650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P34 브라우저 회귀: 326 / 326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7150B-39A7-4418-987F-3E805EB2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이번 리뷰에서 docs · test · build · audit를 최신 main에서 다시 통과시켰다.</a:t>
            </a:r>
          </a:p>
        </p:txBody>
      </p:sp>
    </p:spTree>
    <p:extLst>
      <p:ext uri="{BB962C8B-B14F-4D97-AF65-F5344CB8AC3E}">
        <p14:creationId xmlns:p14="http://schemas.microsoft.com/office/powerpoint/2010/main" val="8971882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5FB750-6D40-479D-9E27-CF6700EF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8611B-D4CB-4A44-84F9-C977BB9D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C3055-C5CC-4541-BD1A-188EA4F1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하지만 12일 동안 P24부터 P34까지 11단계를 만들었다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956E5-CB36-4118-8064-48B38B04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3EF95-5F63-4232-8741-898A199C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78A52-A010-442A-9D9B-17B592E4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58242-913A-45E0-9CE6-6F895173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5527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P24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C0E7A-792C-4BE7-8969-B4BA8C87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" y="3086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8E838-2E9F-4478-88C0-38EE0ED4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" y="25527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P25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622B3-A330-4521-9D9B-6BAC5A47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540" y="3086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13583-ED83-4A3E-967B-00CE5128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365" y="25527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P26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D9854-1B29-4BC4-AF5A-A81C2B5B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010" y="3086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25960-0B9F-412F-AFEB-251313DA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835" y="25527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P27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FE2B6-3D4D-4F3C-8F5C-EA22C9E2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086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9C168-FEC6-4054-9FEC-E73C3A2B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305" y="25527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P28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62B2C1-A55A-4BAC-B1E0-54BF3E46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86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826D4-124C-49F7-8A4C-84CB2AC0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5527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P29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61516-87DE-4E56-84C6-A694A8BC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420" y="3086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27B4C-3133-4372-B2B7-3B0961DF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3245" y="25527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P30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B827C-9D3B-4BE0-95FF-99714E54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890" y="3086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513C8C-709C-43AB-A187-317F4D28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715" y="25527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P31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8F957B-FD58-4EFF-94AF-883656E6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0" y="3086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1DDC8B-31FE-4C91-A1F5-FEACC38D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185" y="25527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P32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C4D921-4148-429E-B47C-9F117B0B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830" y="3086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84D729-68B1-46F0-BDAA-ACA50CF0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3655" y="25527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P33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623893-4AB2-4C62-BEF7-4870B0A5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086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EE6CAC-0BDE-4CB5-AD14-01D66D2F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5527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P34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B13AD5-0DEE-4BE6-B404-B6A86329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빠르다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706AB2-5FE3-42B4-9189-356D85A4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243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그러나 하나의 테스트 가능한 여정을 닫기보다 새 단계 이름으로 계속 이어졌다.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492BD8-BA37-4F44-B874-14BC668E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11단계가 늘었지만 ‘이제 설명 없이 시험할 수 있다’는 판정 기준은 없었다.</a:t>
            </a:r>
          </a:p>
        </p:txBody>
      </p:sp>
    </p:spTree>
    <p:extLst>
      <p:ext uri="{BB962C8B-B14F-4D97-AF65-F5344CB8AC3E}">
        <p14:creationId xmlns:p14="http://schemas.microsoft.com/office/powerpoint/2010/main" val="15168069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02C54-9DF4-40A2-846A-AFDA1201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4B366-59AB-462F-A340-8628F97C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E00D0-4FC1-4C23-868D-78F3B0BF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0명은 원인이 아니라 현재 상태의 결과다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91F3D-C3D1-48E4-B2C4-2A0D7D18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3F8EE-1D37-4F5F-97C6-C0FA022B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4000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70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1470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1686A-6D57-4BA7-8980-4F1B1BBD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관찰된 실제 사용자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BF634-DD68-475F-8E60-8C8CA8AD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685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사용자가 알아먹을 최소 경험이 되기 전 관찰을 미룬 판단은 합리적이다. 문제는 그 최소 경험의 exit 기준이 없었다는 점이다.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1D610-AB00-4DD9-84C9-16A12F20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29150"/>
            <a:ext cx="685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4EC60-D376-4309-8795-FA5C0679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768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자동 시뮬레이션 24회 ≠ 테스트 가능 판정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E0969-ACE2-4FF4-9E0B-BE720050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먼저 Test-ready를 판정하고, 그 다음 실제 사용자를 관찰해야 한다.</a:t>
            </a:r>
          </a:p>
        </p:txBody>
      </p:sp>
    </p:spTree>
    <p:extLst>
      <p:ext uri="{BB962C8B-B14F-4D97-AF65-F5344CB8AC3E}">
        <p14:creationId xmlns:p14="http://schemas.microsoft.com/office/powerpoint/2010/main" val="113819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5A2D8-887E-444E-B876-5E375CE8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F32AC-6B6B-4DAB-B83A-7EE9F469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A4B09-0C3C-462D-A32C-C227E4BD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FlowMe는 지금 두 개의 속도로 움직인다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C4694-600D-4C25-AB98-608D8E29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FA824-D940-4C90-9F67-6C0C1841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기능 확장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C3AE3-DF62-43B5-B85A-29038900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1930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F93AA-8F99-40C4-8D67-879D77B4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1930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1AF9E-F628-4B72-843C-CB4D960E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574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구현 · 자동 테스트 · 배포가 매일 누적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F760C-A873-4C65-9301-0B52F434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여정 수렴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ECD76-D44B-4BE6-8DF6-45494BE1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63C7C-3D44-4DA1-B7B5-9E91F326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116AE-8C8F-482A-B556-A36DAE2A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814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대표 경로 · 이해 기준 · 종료 판정이 반복해서 재개방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9436E-EB30-46F1-8DC8-ACB2F4D1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기능은 앞으로 갔지만 여정이 닫히지 않아 ‘계속 바쁜데 제자리’라는 체감이 생겼다.</a:t>
            </a:r>
          </a:p>
        </p:txBody>
      </p:sp>
    </p:spTree>
    <p:extLst>
      <p:ext uri="{BB962C8B-B14F-4D97-AF65-F5344CB8AC3E}">
        <p14:creationId xmlns:p14="http://schemas.microsoft.com/office/powerpoint/2010/main" val="15786693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3A74A-0517-4506-96A6-39B2D5C4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0F766-3D7B-496D-A11A-E15EEC0E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7E86F-F406-4457-90C4-E19FC04A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체감 진척은 작업량보다 ‘여정 폐쇄율’에 좌우된다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4082A-D03E-42AE-9581-F878D1E5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3548D-CE5F-4A1E-A809-3B0BD519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작업량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D4D9B-370B-4524-80DB-31A9010B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F0445-F433-4E1C-9CE4-072DAC50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145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화면 완성도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BC4D5-15B1-476A-86A6-D72DBD45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4312B-B17E-403E-871D-38DE49A9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145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Test-ready 판정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3918A-2DD2-4D9A-8145-FE2B66E8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3094D-D3C5-4497-8D41-16FDA9AA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957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420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다음 단계가 자꾸 다시 열림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1902C-DB75-4BDD-85CE-8D6CE2E9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577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그래서 구현 완료가 많아도 사용자가 시험할 제품의 현재 위치는 선명해지지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5770368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722976-30C4-4BD5-979A-A0EB72C6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373AB-7056-491C-AD59-18A971D4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B6DCA-5E1D-4409-A956-B5BDAD7A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리뷰가 Test-ready 판정보다 다음 구현을 먼저 열었다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00169-5132-4C18-BC26-8BAD091C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4826A-438F-4A6E-835F-6533043B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D801A-54C3-4682-A38E-BE95B136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8956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내부 리뷰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B6172-8A2D-4CD5-9B61-C82EAE83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124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72E72-BE9E-41B5-BCC6-542DF677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857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84415-F304-4974-9654-6D75D10A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717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2DB"/>
          </a:solidFill>
          <a:ln xmlns:a="http://schemas.openxmlformats.org/drawingml/2006/main" w="9525">
            <a:solidFill>
              <a:srgbClr val="A66C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2DB9B-CC40-4C5B-98A3-697D5B19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8956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66C00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A66C00"/>
                </a:solidFill>
                <a:latin typeface="Noto Sans KR"/>
                <a:ea typeface="Noto Sans KR"/>
                <a:cs typeface="Noto Sans KR"/>
              </a:rPr>
              <a:t>새 문제 발견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40343-9A5F-4CF9-8D80-92A4C7FA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24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76992-8178-4E02-A561-84E05D0F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857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8BDD2-9A54-4407-B88A-D0B8DF8B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717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C84D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EE6CE2-1E59-48FE-9548-D789A899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956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다음 P단계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4F9A46-7A15-4942-A174-F6F70031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24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1880E-16EB-4B17-87A9-BD96B9D8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2F503C-E8C6-4972-A0A0-234A8267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5717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287D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2461A6-8E54-4188-8278-D1D50810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956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대규모 회귀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43A66D-3C08-43B1-8BDC-F5C893BA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결함과 정합성 교정에는 유효했다.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9BE25-E311-42ED-8179-1A5C80C3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하지만 내부 리뷰가 ‘이제 시험 가능한가?’를 답하기 전에 다음 범위를 열었다.</a:t>
            </a:r>
          </a:p>
        </p:txBody>
      </p:sp>
    </p:spTree>
    <p:extLst>
      <p:ext uri="{BB962C8B-B14F-4D97-AF65-F5344CB8AC3E}">
        <p14:creationId xmlns:p14="http://schemas.microsoft.com/office/powerpoint/2010/main" val="14213434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3D32EF-E0FA-41EF-A1C1-36946934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FA7FB-C0C4-47DE-B8D1-7E7E316F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8E9C0-FD2E-4192-A86D-47364502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빠진 단계는 사용자 관찰보다 먼저 ‘Test-ready’ 판정이다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CA8B8-1570-4252-83BC-5744CD9B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A6F2A-E9A4-48CC-89D1-FD2C22E3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F4363-9B31-4913-8553-CABE8D5A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내부 근거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33492-29A2-4D74-9A0E-E20EF53E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4320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1FA48-9C25-4AA3-8BD7-CA317AC7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A526D-F361-486E-8FEC-17A56D47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00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대표 여정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3736C-7812-4CAD-904B-75AE50FD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4320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FC063-1274-4F0D-9746-807B3F45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085C6-5502-4A13-B15D-CE0AEAD8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00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설명 없는 점검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44712-BB1F-4999-BC18-48946C68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70C6E-74F6-4551-B6C0-DA916569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717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B172F-2F2C-4C5F-BA68-18A33B7A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00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Test-ready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961A6-1BB3-4353-A383-8B1C7E83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4320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AA0ACD-AED2-4B91-B144-2413CB56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717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6E8AD-328D-4729-9BD1-72CD4FC3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00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사용자 관찰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86D77A-3CDF-42AB-B886-9C75EC06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57700"/>
            <a:ext cx="447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C84D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980AB7-90A2-42CB-808E-B43AD563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714875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75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판정 질문: 설명 없이 이해하고 끝낼 수 있는가?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CBC852-9630-4EFD-8582-55B0BC61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Yes일 때만 2–3명 관찰로 넘어간다. No면 blocker만 고친다.</a:t>
            </a:r>
          </a:p>
        </p:txBody>
      </p:sp>
    </p:spTree>
    <p:extLst>
      <p:ext uri="{BB962C8B-B14F-4D97-AF65-F5344CB8AC3E}">
        <p14:creationId xmlns:p14="http://schemas.microsoft.com/office/powerpoint/2010/main" val="16967597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62A698-D74D-4BC5-9F43-AB8FEDF0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13185-30E8-4E94-9E02-FBC38AEB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C6819-C532-47B8-A05A-972995EC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핵심 여정이 수렴하기 전에 제품 폭이 넓어졌다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A15AC-83C7-433C-935A-5216BC1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941C6-5FAE-42ED-8A66-D8C73F47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099EF-6C0A-4A87-BEE2-4A3A61C0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14600"/>
            <a:ext cx="1924050" cy="1924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4048C-0593-4EDD-9A0C-847B1F87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33700"/>
            <a:ext cx="80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핵심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CA279-4366-402A-80A4-1FB5661C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00425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URL/메모 → artifact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637AA-A64F-4FE1-A5A6-51988AAE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8125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0767C-8479-4ED5-BA4E-C6B5FC7E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288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My Flow library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73518-0BC2-45D5-BA9C-86D28519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6FEEE-EC8B-4F14-9C7F-E4FB8045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288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Calendar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6E026-E577-4D0F-89A7-BDAED45B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6235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61E8F-CF09-4B48-B4E2-25EED983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099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archive / restore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ECEC5-CE93-4EDD-A4F5-18522016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6235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AC639-F014-40BE-BCA8-1CE49145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099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recurrence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5C4C9-C7B5-4B8F-88DD-BD10582C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4345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0F9F6-7C4A-49CB-99CE-3251A101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910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CRUD editor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4D6C2C-8623-449E-9804-2C0559D2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4345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8F3590-7C3E-4BF9-A328-A0C6D61B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910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creator / labs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1423CE-A17B-45D3-A2EB-BDF7D4E8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폭은 자산이다. 다만 지금은 한 경로를 설명 없이 이해 가능하게 만드는 집중력을 빼앗고 있다.</a:t>
            </a:r>
          </a:p>
        </p:txBody>
      </p:sp>
    </p:spTree>
    <p:extLst>
      <p:ext uri="{BB962C8B-B14F-4D97-AF65-F5344CB8AC3E}">
        <p14:creationId xmlns:p14="http://schemas.microsoft.com/office/powerpoint/2010/main" val="16893922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AD912-BABE-4B42-99A9-89B31188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EB019-6E9C-4F0E-9387-60AAEB88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CB356-1685-42FA-A819-80C30322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PR은 검토 공간보다 배포 기록에 가깝게 쓰였다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0A2AA-64CB-43E3-B22F-D2560908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D63DA-A966-4E26-A588-87E3F01D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88F01-7291-4DB6-95B5-F1699AA7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7월 19일 이후 병합 PR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A8A74-630F-43F7-BD72-5B94C4C1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8.4분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A03C4-24CA-484F-BEF0-FF42296C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PR 생성→병합 중앙값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62FB6-7252-46E5-8B45-84F7B060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C2792-4E38-4896-B2A7-CA4046BE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10분 이내 병합 PR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CD30B-D5E6-49C6-9B60-806AA1C5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3FB33-87BA-4B2B-8BD7-E20E8C9C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해석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C8F74-FD6A-42EF-869C-023CB8D2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971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개발 시간은 PR 밖에서 이미 들었을 수 있다. 그래도 PR 안에서 사람이 숙고하고 반대 의견을 남길 시간은 거의 없었다.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E9B51-BFFC-4772-820B-6E1732C2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769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PR은 잘 남았지만, review gate로는 약했다.</a:t>
            </a:r>
          </a:p>
        </p:txBody>
      </p:sp>
    </p:spTree>
    <p:extLst>
      <p:ext uri="{BB962C8B-B14F-4D97-AF65-F5344CB8AC3E}">
        <p14:creationId xmlns:p14="http://schemas.microsoft.com/office/powerpoint/2010/main" val="7285649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24840F-08EE-4579-AE28-4A6A5F98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A75AB-CF55-46BF-A8A9-3D1EC3FA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9DB81-6A54-420D-8E6A-ABEB2674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진단 중 STATUS·ROADMAP drift는 닫혔지만 HISTORY는 남았다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8385A-C3D8-40F6-B79A-CB31DE42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2D151-4444-4EF7-A75A-5169086A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GitHub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48036-0848-4BD9-9412-7C666D12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907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P33 · P34 병합 완료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C1E06-9FFF-4CC5-93EE-7D81142A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866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9BE2B-4901-463F-B7BB-56C74132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98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47F34-0F99-4C63-A57F-117B3DE9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Vercel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0A0B1-0F4E-425E-9528-2FADC681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860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두 merge SHA 배포 success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8F356-FF70-436A-83A4-DE6EB5CB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762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C0FEF-FA49-4E77-882F-8E39A41C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05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07618E-D3B4-4049-8952-3A16DC82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STATUS / 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E9DA2-5A2F-4364-B94B-FAD2E99B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814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PR #158로 production green 반영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EB48E-0BFE-4BDF-A2DF-42568B9E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657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E4543-DDA5-4194-8C01-FCAC87BC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005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94F09D-B90E-4A37-96F1-BCE6FDBE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HISTORY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674FA-9EB4-4232-90C3-25A1BD44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767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P32에서 멈춤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78E6B2-6BBA-4A5E-9466-06E11B89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5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38277-092E-4BE3-A4E9-0D64D017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54B22B-4A9D-4163-A83D-C9EFA31A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closeout lag는 실제였고 바로 줄었다. 완료와 기록을 같은 작업에서 닫는 규칙은 여전히 필요하다.</a:t>
            </a:r>
          </a:p>
        </p:txBody>
      </p:sp>
    </p:spTree>
    <p:extLst>
      <p:ext uri="{BB962C8B-B14F-4D97-AF65-F5344CB8AC3E}">
        <p14:creationId xmlns:p14="http://schemas.microsoft.com/office/powerpoint/2010/main" val="15300131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D5E1E2-351A-4F72-B1D3-CB45B68D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DB57C-FCC4-42E0-9F9B-2CA92EF0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E7C5D-3F30-4CAC-A9C6-84EABF98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구조적으로는 AppClient가 통합 병목이다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F2534-1F04-4C39-A130-ABB1D6BC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32213-DA6B-4ADF-A66B-EE85A629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AppClient.tsx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291E7-CCB4-4E7A-A405-8A38AC9D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38325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C8136-33EF-4444-8E6A-3244D398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38325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0323A-940A-41B9-A595-234E2C3E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79070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22,330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CA427-A483-4104-A66C-7CB4B580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KoreanFlowContentStudio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E1ADE-511A-4ACF-887D-3B51634A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0D2DA-43FA-42CF-8252-BA8D92FA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118947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6EC9F-4A85-495D-AD46-83E232B7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3,873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6397C-49E9-4335-93FC-70AC4A5F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ArtifactWorkbench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992C9-A9BA-46C3-B921-D84C1817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90925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9DD5B-0D5F-4DE2-8CB7-15D79DEA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90925"/>
            <a:ext cx="101380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C85BF-E047-4888-8B40-1398D745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4330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BA7D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BA7D8"/>
                </a:solidFill>
                <a:latin typeface="Noto Sans KR"/>
                <a:ea typeface="Noto Sans KR"/>
                <a:cs typeface="Noto Sans KR"/>
              </a:rPr>
              <a:t>3,301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4CFC6-FFA3-41F3-BA6A-95BF93FB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ContentLab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CB153-1DDC-41BE-B825-D3493853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67225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84882E-7D53-4112-ADCA-D6ED9812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67225"/>
            <a:ext cx="32923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9BB72-F0FA-43C8-99E1-EACBACBC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1960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1,072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2EA63A-5008-45A6-A6EA-8849C119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DCE416-FE49-4879-A767-300CED03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22,330줄 · 1.08MB · P25 이후 38커밋이 같은 파일을 통과</a:t>
            </a:r>
          </a:p>
        </p:txBody>
      </p:sp>
    </p:spTree>
    <p:extLst>
      <p:ext uri="{BB962C8B-B14F-4D97-AF65-F5344CB8AC3E}">
        <p14:creationId xmlns:p14="http://schemas.microsoft.com/office/powerpoint/2010/main" val="6345486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E50996-E044-4B54-BF7F-E72962DD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3CB8C-40B5-48FD-91B6-E72DFD6E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38C54-1EF2-4622-B117-F4DF5697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UX 개발은 도돌이표인가? 판정은 ‘전진형 도돌이표’다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FF2C4-D4BA-45CD-A037-5B20239F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44E68-3A13-49D6-832F-07F82A9D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2959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5D563-CB6A-4231-8038-80D15925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분명한 진전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BFD4E-B15D-48A2-8DA2-58EE6CD5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891D4-70C2-485F-A809-B6B05DC0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source · personal · run identity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8C500-FF3E-4A0F-81FF-DA5F5C88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937B4-BFC6-48FB-B619-9EFDAE51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archive · restore · CRUD lifecycle 구현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3875E-63A0-4344-AB09-F752F82D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8A23F-1612-409D-8DD2-5200A1C0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export · recurrence · accessibility 강화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AFFB8-99E8-4A93-8981-2D56DEA5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695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8F92C1-01E8-43CD-8D63-C5483707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516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반복된 재개방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8A8C0-560F-4FA7-85D3-C8CF017F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9B500-72FC-4EF8-9508-F1DFFB71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My Flow · Calendar의 역할과 밀도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6B010D-945D-4659-8547-112FF215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48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04043-C572-4CE7-B417-859985A7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save-before · post-save의 주 행동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EFEE6-1CF0-4D4A-9F7D-240430AF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C55FE-C7C2-4AC3-BA50-097E51DB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command hierarchy · mobile composition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B63BB0-DF80-431B-924D-CE66754C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기능은 전진했다. 그러나 같은 핵심 여정을 반복 재설계해 재작업률이 높았다.</a:t>
            </a:r>
          </a:p>
        </p:txBody>
      </p:sp>
    </p:spTree>
    <p:extLst>
      <p:ext uri="{BB962C8B-B14F-4D97-AF65-F5344CB8AC3E}">
        <p14:creationId xmlns:p14="http://schemas.microsoft.com/office/powerpoint/2010/main" val="16184279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724FF0-9949-4ACC-A64F-AEDAB722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696B3-3630-4CCB-A5BD-B8F94F92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FA337-531F-4AE7-BF25-D4B5A292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P25부터 P34까지 같은 표면이 거의 매 단계 다시 열렸다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222FE-10F1-4456-B3FA-9E3A8FE6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57222-936C-42D7-8E44-4C7ED66A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P25–P27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0A7AD-D4BA-41B1-8C37-D12851C1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52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전체 Flow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3F265-952E-42AA-B642-991C2356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8117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foundation → correction → lifecycle reconciliation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08560-3B8A-4827-866B-DFAFD407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87A30-3C7D-42C6-B9A9-83968BD1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6C0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A66C00"/>
                </a:solidFill>
                <a:latin typeface="Noto Sans KR"/>
                <a:ea typeface="Noto Sans KR"/>
                <a:cs typeface="Noto Sans KR"/>
              </a:rPr>
              <a:t>P28–P30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D19A8-8643-4EE5-B2A7-A440FC8C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47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같은 cross-surface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9F326-B253-48A5-8BBE-986ACC5F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765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reconstruction → reset → composition fixes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95D9C-8722-4509-833A-8EE0BB35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2703D-F44E-4863-B689-AAD1B860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P31–P32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C22B1-EE03-4E89-BCBE-249BE25D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43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My Flow · mobile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C63B1-8C9F-4B59-A713-9F96E54B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7187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journey reconstruction → focused workspace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3178B-F567-4632-8BAD-0BFA5217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0A260-C1AC-4B08-8442-9ADD373F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P33–P34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43A190-6409-421A-BD85-A8B17698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386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같은 저장 객체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233DC2-32A8-43DE-A60D-4FFA0DD3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672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canonical identity → CRUD command lifecycle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9C6156-01FF-44F0-81BC-B97FD3EF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262D0-9FE3-47D6-9D91-1CF3CDE7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260A27-BE96-4EB8-82DD-055C1702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911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각 단계는 새 능력을 더했지만, 이전 단계가 ‘테스트 가능’으로 닫히기 전에 다음 재개방을 허용했다.</a:t>
            </a:r>
          </a:p>
        </p:txBody>
      </p:sp>
    </p:spTree>
    <p:extLst>
      <p:ext uri="{BB962C8B-B14F-4D97-AF65-F5344CB8AC3E}">
        <p14:creationId xmlns:p14="http://schemas.microsoft.com/office/powerpoint/2010/main" val="5386608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FFB82C-33C2-4ADE-829E-280AA292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6116A-9C61-4EA0-B6B8-976EA9C6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38D19-D91C-4008-BFE7-9FDD7F46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도돌이표를 만든 원인은 취향보다 운영 구조다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7F5F9-A85F-47B2-89FA-99DBCD6D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306E3-C026-48CF-8357-FEE07DA8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BB7BE-003E-431D-94F1-393E3333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Golden journey를 한 iteration 동안 고정하지 않음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FE3E1-EF5E-4634-A34A-1EE629A3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526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3FE73-8406-42C5-A024-DD5AEFB2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06EFD-6A50-4768-A2B8-A8F60B70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003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설명 없는 최소 경험의 Test-ready 기준이 없음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8BEFC-882F-44E4-A87A-C9D2BA37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76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CE6C4-F61D-4BD2-9834-E4D1004F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59C3C-5D0F-4932-9BFC-95DF8BF4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다중 surface · persona review가 넓은 backlog를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628CE-7091-4A03-9A3F-5F7ADF42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C6B06-7689-4F06-9060-830EA740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73250-A29F-40B0-8B2E-1EC3B3F9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owner 판단이 구현·배포 뒤 다음 P단계로 승격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10BF8-CAE4-477C-8CCD-EB1C436D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E1C9E-D7EA-4FFE-BA2F-A94551C9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90C28-786C-4B9E-9F5C-FFCEC002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22K AppClient 결합으로 작은 hierarchy 수정도 넓게 회귀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2E1681-9357-4C17-A8EA-3E0E13CD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482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AD20D-D4C8-4818-9DDC-A2A5A773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사용자 테스트 전에도 이 구조를 바꾸면 반복 재설계를 줄일 수 있다.</a:t>
            </a:r>
          </a:p>
        </p:txBody>
      </p:sp>
    </p:spTree>
    <p:extLst>
      <p:ext uri="{BB962C8B-B14F-4D97-AF65-F5344CB8AC3E}">
        <p14:creationId xmlns:p14="http://schemas.microsoft.com/office/powerpoint/2010/main" val="4300563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64B2CE-7327-42ED-842B-D76C58EC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C9F2C-3858-476D-AF39-A7AB0D25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B140B-EC2B-4536-980F-79C5AFD2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현재 성숙도는 평균점수 하나로 보면 안 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33C6E-FE59-4DF1-A9FC-DF7C6F70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50E91-2DAD-4805-83F2-82B77759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기술 기능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275D1-839B-47F1-A81A-3751E1BF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90700"/>
            <a:ext cx="822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086CC-C40A-4EED-A3EC-5B70DD98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90700"/>
            <a:ext cx="6912864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EC0E6-8C08-4E09-938C-7DEC40FC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5740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높음 · 한 바퀴 구현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23FF4-056E-4F80-A605-E4D89265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24125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자동 품질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F0592-D964-4DB2-9A6E-EA13858D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52700"/>
            <a:ext cx="822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22073-0A5C-4414-B531-7A62CD20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52700"/>
            <a:ext cx="740664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758B1-8FEF-41E9-984D-28FB9AEB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1940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높음 · test/build/audit green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ECCB8-B7AF-4DA6-8CD9-795F8804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제품 정합성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24F9F-D5BE-41CF-806D-625BDC47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822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027F9-12C0-43BF-981D-B5A7BA5D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559612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7CB9F-4E1B-4AC5-9D21-D9494ACF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8140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중간 이상 · P33/P34로 개선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A7A11-5C91-469C-AE04-1A130C84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운영 명료성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50DF8-94AA-4F19-999D-10627F1B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76700"/>
            <a:ext cx="822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153BD7-91C1-429F-B17F-933C6C95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76700"/>
            <a:ext cx="3785616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25E2C8-56C4-4C33-B39F-77692816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4340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중간 이하 · status truth drift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E1D20D-2992-4991-BD84-D952B339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테스트 가능성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7D95D1-52BF-4849-B5E1-F23F2681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38700"/>
            <a:ext cx="822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7A549D-CA29-4B21-85ED-FE34281E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38700"/>
            <a:ext cx="181051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8C4748-B492-4772-AB99-C83D295E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미승인 · 사용자 관찰 단계 진입 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E55F82-ADF9-485C-97C6-8415DE2B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기술 점수가 Test-ready 판정을 대신하지는 못한다.</a:t>
            </a:r>
          </a:p>
        </p:txBody>
      </p:sp>
    </p:spTree>
    <p:extLst>
      <p:ext uri="{BB962C8B-B14F-4D97-AF65-F5344CB8AC3E}">
        <p14:creationId xmlns:p14="http://schemas.microsoft.com/office/powerpoint/2010/main" val="167079441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03A43E-F8DA-49E1-86C4-828FD1AD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B864C-4BB0-44A1-A9CC-D4C63776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C8F91-6A2B-4308-8FEF-09E20B68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다음 병목은 기능이 아니라 다섯 가지 Test-ready 기준이다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550C3-B3A3-4122-A02D-F3B3C7FA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7681A-7947-4BA5-A078-37ECB756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062CA-E890-4B41-944D-C46A551A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192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첫 화면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935A0-55FF-44E3-BA7F-B763CBCD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383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무엇이 만들어지는지 한 문장으로 보임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7A13C-018C-4F83-A063-32E526D9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240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D11A1-4784-4910-9449-B3C8FA92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8103B-584B-441B-8001-080A36CD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주 행동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72338-309F-4012-BBEE-FB5210E3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내부 용어 없이 한 개가 선명함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50DB1-BF04-40B4-B775-F0A14DD6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670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193C2-DA9E-429B-AA7E-7345BBA2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050FF-0721-4F9D-9682-E980A42A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FBFE7-9880-4AF7-8CE8-ABA74521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242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설명보다 실제 artifact preview가 먼저 보임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C418C4-F9BC-449E-BE15-B18F1DF1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99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78360-0BD4-433A-AE85-C1289264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43281-E677-4F5E-9F03-77A70CC9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정합성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41374-64AB-4A26-8C42-E854124E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6715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preview · 저장 · export 내용이 같음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3A6A94-8530-40C2-80C5-9CE0FE41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529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34B752-1948-4BA4-BA8C-444177D7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4AF090-FE1A-4B64-92CF-1F3E350C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연속성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BDC071-6E23-4977-AD37-D45978D1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101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저장 뒤 다음 행동이 바로 보임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EF71DE-B713-4D57-832C-A6DC7D90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958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7B527-F5BD-4B28-BC6C-5990A0E3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다섯 기준을 모두 통과한 뒤에만 실제 관찰을 시작한다.</a:t>
            </a:r>
          </a:p>
        </p:txBody>
      </p:sp>
    </p:spTree>
    <p:extLst>
      <p:ext uri="{BB962C8B-B14F-4D97-AF65-F5344CB8AC3E}">
        <p14:creationId xmlns:p14="http://schemas.microsoft.com/office/powerpoint/2010/main" val="6197111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CF8BE4-CC3A-48D7-A6E9-273E2AF5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0401E-DBC0-43B8-9C17-23F57E5C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F76BE-B6AD-49F6-BECA-28CFB355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운영을 세 개의 레인으로 고정하자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E2493-BB87-4193-8B02-EE9C2180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0D078-DE7C-41FC-BCB9-B29DE0E8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60%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095A9-D9EB-4C89-BBC4-7430503A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96E91-0FF5-43A8-ADAF-0D2CE451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제품 수렴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AA430-1CA0-4A7C-A844-5E6866FA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한 사용자·한 문제·한 artifact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FBE09-8857-41BB-B2E0-0B0793DA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240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25%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E0401-402A-40C5-8602-006F4346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384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B2BE4-C2DD-4F9F-A4D9-ADDD07D4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432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신뢰성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04B8E-F1DA-4447-8609-12B9A616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528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회귀·보안·배포·상태 정합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87920-48D3-49D3-B56F-74199A1A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A66C00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A66C00"/>
                </a:solidFill>
                <a:latin typeface="Noto Sans KR"/>
                <a:ea typeface="Noto Sans KR"/>
                <a:cs typeface="Noto Sans KR"/>
              </a:rPr>
              <a:t>15%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B5B096-782A-4E2F-B15E-008CED91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FFA88-FDDF-4AF8-B84F-ACA1367A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콘텐츠 공급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AE902-FE95-4516-99D3-8364817B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다음 실험에 필요한 최소 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51FBD-4DD7-4702-A0F1-77A52A06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E2129-8171-4626-BBF2-36018E73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435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규칙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7BA76-2E2B-471E-9653-8FE60C60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6732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제품 수렴 레인이 막히면 다른 두 레인이 기능 확장으로 우회하지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2182572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BBB695-4144-4242-B498-E783249E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5A569-3043-458B-8206-15C3A141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95D10-CD78-4EB5-96E7-912743ED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다음 순서는 기능 목록이 아니라 증거 게이트다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857DD-D5CE-45CB-9E9B-FFD537FA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A083C-CBA8-451B-96E8-CE4474B2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4BA07-6B4F-4F35-83C2-4834268A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526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21AEB-9E5F-4CA6-9FF6-E7089DCB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6025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12069-1257-4E4F-98F3-61324EE5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현재 truth 닫기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6999C-AAA9-482A-8EA7-21C7272F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STATUS·HISTORY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9E848-D337-4AE7-BDEF-405907EE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28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9525">
            <a:solidFill>
              <a:srgbClr val="2457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78859-BBAC-44F1-85D2-3F9A24BE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526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13281-87CE-41C8-ADE2-848BF76D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86025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34AD4-1485-4302-8B80-BE8BA0E7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432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Golden journey 고정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8033DB-AC93-4474-8351-11E52E36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290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한 source·한 artifact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07EA2-900C-43D2-B139-DF0B8D96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28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0E51CA-AE5F-4C33-9FF4-E0E5A760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526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53143-FA2F-4B9E-B82D-7ED4EEE5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86025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BADD1-D23A-485D-B195-23F67E5D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432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Test-ready 판정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34F5D2-6560-4516-82A4-02C1932A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290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owner·독립 검토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6813E-DB8D-495D-8C9B-45BA0EFE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28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511CE-69BD-44BC-80EE-D4B0920F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526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8056EE-E1AD-4369-9057-EA143D5B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86025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0C17D3-DD4F-44A0-969C-5E06F043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2–3명 관찰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44A54-9CA0-4743-8E43-91EEB6A3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290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Yes일 때만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21285C-43B2-4587-84E8-C07ECE77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28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15EF99-B9C4-4765-ADEC-765159F8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526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367F87-CCB3-4E56-A3EE-24B07349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432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Keep / Fix / Park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5D7868-33A8-47CA-A3EF-30417A32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290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한 문장 결정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513869-3D6F-4450-B336-58731B4B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P35를 만들기 전에 최소한 1–3을 먼저 끝낸다.</a:t>
            </a:r>
          </a:p>
        </p:txBody>
      </p:sp>
    </p:spTree>
    <p:extLst>
      <p:ext uri="{BB962C8B-B14F-4D97-AF65-F5344CB8AC3E}">
        <p14:creationId xmlns:p14="http://schemas.microsoft.com/office/powerpoint/2010/main" val="20544070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30CF04-F2D7-4C3E-8EC9-6C6B6D88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30156-786C-4B0C-84D8-45416677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3F2C7-DAD7-49F6-86EE-9339B870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사용자 테스트 전 한 주는 ‘수렴 → 판정’으로 닫는다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D0BBA-AC47-4286-BA20-51C251C0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D1AC9-233A-4398-85A7-11127521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D1725-FF87-4822-89E6-8E328C56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9240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38B48-7C49-43FA-86BB-56DA17ED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여정 고정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53600-1C7C-44EA-AA27-76E2C4F3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18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성공 기준 5개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A401D-AC88-4222-9691-9C61DC5B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3845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C9DFB-282B-4CD8-AAE6-55665AEF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09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5DBF2-AC8E-45A2-9971-EB1B0C3F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24100"/>
            <a:ext cx="19240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96D35-9BE6-4781-B53A-60206C11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908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blocker 수정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1F1B8-8A88-4B7D-9191-3DFC2532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718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한 journey만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67441-F133-4278-9876-F75913D9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0E194-24B5-4ADB-BA03-315E5E27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809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83F3D-C56F-4C28-9283-7C525584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19240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5D6BD-B3D7-4C3D-A2A6-5E252ECF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908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자동 QA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F9801-4DF1-4843-B0DB-604C66AC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브라우저 포함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051E30-BC8B-42DC-83F7-9817C598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83845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DCFDEF-0319-435C-B1D7-E3A26CFC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09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ABF31-6CF0-4DF6-A8DA-B488426F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24100"/>
            <a:ext cx="19240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352991-FDD5-4C38-B833-2D8AC054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설명 없는 점검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097565-89D0-42CA-BC9A-0D3A1D47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718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owner·독립 검토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3188AD-264C-4FE4-B32E-CA4E5339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83845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598381-CDF8-4B64-8626-21F77C97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09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BDFC6F-92CB-425F-8E0B-17914312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24100"/>
            <a:ext cx="19240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A686CD-CD40-4BF6-B54B-3CCAF7B6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908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Test-ready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8987A-D0FE-4666-A068-6BF1B811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718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Yes / No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F66E88-4DA1-476A-BF2A-82A7AF35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No면 blocker만 다시 고친다. Yes면 다음 주 2–3명 관찰로 넘어간다.</a:t>
            </a:r>
          </a:p>
        </p:txBody>
      </p:sp>
    </p:spTree>
    <p:extLst>
      <p:ext uri="{BB962C8B-B14F-4D97-AF65-F5344CB8AC3E}">
        <p14:creationId xmlns:p14="http://schemas.microsoft.com/office/powerpoint/2010/main" val="193362051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BADA0F-7991-4232-8015-5A76191E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1E8D5-0896-423D-AA14-371E6412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D9C41-7828-43A0-9BF5-6F374D10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WIP 제한이 있어야 집중력이 생긴다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D47AD-5B01-4738-84F5-8D76CF7F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E4831-E87A-470E-A0B2-F6657ADC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104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67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F7A49-7521-4D8D-B94D-1A87C006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336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3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활성 Golden journey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CEAFA-4930-4581-8114-7BBFD309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1CA5C-63A6-4F3E-9AED-68FCD863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05000"/>
            <a:ext cx="104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67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7A738-19D2-45C8-958D-07A251DE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336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신뢰성 작업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9CB02-CC90-466E-942E-BF5F2E1D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1FB60-D286-4D75-9473-4149AF17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104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67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66623-3B8B-4846-876D-F1FE65D6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336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리서치 질문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1A756-9E68-486E-80E0-103D94D6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04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E5A2C-CC49-4A7D-A1D6-0CE78721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D2F29-E0DA-4B3F-A035-B6563812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02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Test-ready 판정 전 새 P번호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38867-659B-4011-B3F3-F08B130F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3AA06-AC43-47A6-A204-F162D878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502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다음 gate와 무관한 대형 리서치 금지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03E3F-9F7E-4FEE-AB6C-15CBEF82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EB62DF-9888-40BB-96CB-F82ED9DE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502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기준 위반이 아닌 취향 수정은 Park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D2D7F-8B71-4F97-9B10-640F8827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81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97D08-18F5-4F39-8A56-CEA09C21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502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작업 중 발견은 backlog로만 이동</a:t>
            </a:r>
          </a:p>
        </p:txBody>
      </p:sp>
    </p:spTree>
    <p:extLst>
      <p:ext uri="{BB962C8B-B14F-4D97-AF65-F5344CB8AC3E}">
        <p14:creationId xmlns:p14="http://schemas.microsoft.com/office/powerpoint/2010/main" val="18364740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71BBD3-2740-4654-80E4-D5C10695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02336-1284-44C3-8A35-634471B1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0049E-C849-45BC-B85E-C506DC8B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측정도 Test-ready 전후를 나눠야 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41764-3893-41B2-83C4-D69B127E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4741A-4CD3-4B64-88E5-569CD016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GATE 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9E398-BAD7-40A6-B1A9-E1536A12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46D5B-AAE4-4A35-819D-D02B97C8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9CA3C-5718-431F-9DDC-5EA5B00C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제품 약속을 한 문장으로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F29AF-B9A9-4607-91EB-A5A029D8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831E5-794D-457F-8455-E80BAA96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주 행동이 한 개로 수렴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DEDD1-50E4-4D5A-A62A-A92DE0EC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7B149-9BDB-4428-96EA-2DC8E6E0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preview = 저장 = export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B8F39-C4B9-46C2-97E3-6D052774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GATE 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299FE-F0F6-412A-A0A7-5A6439AC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19501-DAB5-4231-B0D0-521CCF49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B2910-0A59-4D38-BB16-12A0F398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첫 artifact까지 걸린 시간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F2543F-4221-4D37-A065-A052B3DA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1AD8F7-5984-4974-9127-28CDD111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33750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저장·export 완료율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82FB21-541E-47FA-96BD-CA8D86A0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FA0C95-1087-48AC-9A65-545A106B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19550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다음 날 재방문과 오해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F237F9-0103-441E-971E-14692E56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테스트 수와 스크린샷 수는 품질 지표이지, 제품 성공 지표가 아니다.</a:t>
            </a:r>
          </a:p>
        </p:txBody>
      </p:sp>
    </p:spTree>
    <p:extLst>
      <p:ext uri="{BB962C8B-B14F-4D97-AF65-F5344CB8AC3E}">
        <p14:creationId xmlns:p14="http://schemas.microsoft.com/office/powerpoint/2010/main" val="89944533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1E2E9F-E09F-4F48-A77F-02D592EF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A7042-187E-4BA7-AAF2-FA254FA4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10401-4E7D-4D20-9DD5-BEC02BB4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30일은 먼저 수렴하고, 통과한 뒤에만 관찰한다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26765-4D38-40F9-B9AA-89902AE8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2D37F-AC8B-4C1F-8C65-31ACBBFC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W1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053ED-BE0C-4FF9-A1DB-FF81236A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495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E2DB3-9540-4245-AE97-B84A0841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기준선과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FCEFA-001C-4FC6-BF3E-8C9726C5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2495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truth closeout</a:t>
            </a:r>
          </a:p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golden journey</a:t>
            </a:r>
          </a:p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5 criteria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533C0-7957-4CC3-ACD8-0D674ACD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52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W2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BF571-E6E4-4C03-B73F-882B43FA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2495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0AD51-D8CD-4BA0-A362-76BCA3FF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57450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blocker만 수정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D1F21-45F4-46D3-A3BB-919A5B85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2495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한 vertical slice</a:t>
            </a:r>
          </a:p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자동 QA</a:t>
            </a:r>
          </a:p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snapshot 고정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B0F91-D7AC-48A3-A590-8011A12F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52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W3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1C50D-E041-416B-8B1C-E3F847E6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2495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BB5C5-A65C-4470-90F8-ADD21005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설명 없는 승인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691F8-4D4E-41D3-B6F3-97CADC44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2495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owner + 독립 검토</a:t>
            </a:r>
          </a:p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390 / 1024</a:t>
            </a:r>
          </a:p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Test-ready Yes/No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DF8755-FDB3-4836-8E15-AF59580B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52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W4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B2AF8-9DDD-45E4-ACA5-99054CB5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90750"/>
            <a:ext cx="2495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DAE79-C692-4471-8AAE-F61E1CE1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57450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조건부 관찰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44837A-0F8F-4B96-9314-EBB2CEBA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33750"/>
            <a:ext cx="2495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Yes: 2–3 users</a:t>
            </a:r>
          </a:p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No: blocker list</a:t>
            </a:r>
          </a:p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Keep/Fix/Park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31190-5C96-47CF-AF24-198D5682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959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B1D5D0-1321-48D9-B6E4-6B16B9FE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30일 목표: 기능 수가 아니라 ‘이 경로를 이제 사람에게 보여도 되는가’라는 명시적 답</a:t>
            </a:r>
          </a:p>
        </p:txBody>
      </p:sp>
    </p:spTree>
    <p:extLst>
      <p:ext uri="{BB962C8B-B14F-4D97-AF65-F5344CB8AC3E}">
        <p14:creationId xmlns:p14="http://schemas.microsoft.com/office/powerpoint/2010/main" val="147525148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CC635-8BBC-48C2-AD2D-BCCDD713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49FE2-CF2F-41BC-AC18-FCBB73D7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1897E-FF64-4108-98D7-6EA42242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사람과 AI의 역할도 더 선명하게 나눈다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488E2-6526-4879-B5F3-1D6AF242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FD7F3-2C12-43C5-862B-47B69575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사용자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84B5B-AAC5-4AE5-875F-FF14A931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71725"/>
            <a:ext cx="504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0DE57-CBEC-4186-98EB-1066C792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92341-6F77-4604-AFA1-BB69271F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Golden journey와 성공 기준 승인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65DBF-6605-41BD-8D0B-A9F8A9B1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4F0D5-72A6-4750-BD16-FD85C03F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Test-ready Yes / No 판정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ADC6F-A76A-4343-A146-AAF2627C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F6128-C59A-4AD7-AEDD-B51792D7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trade-off와 다음 투자 결정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0E0AD-5C25-4FB8-9D3E-601D4B95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9976C-C382-495F-BDC0-81CE75EE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71725"/>
            <a:ext cx="504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80D60-8331-4883-B646-F682AC00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615B46-BAEE-4D30-A110-B07B6C77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구현 전 저비용 대안 비교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66905-AE12-44B8-907F-7FAD6A3A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93365-8AAF-4410-B293-8B42B780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9090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blocker 최소 구현과 자동 QA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112AE6-1534-4DD7-9106-D4B653CE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84774B-1DFD-4A5C-8857-246D87DD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5765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근거·상태·결정 즉시 정리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3E938-3F7B-4E80-92EB-62DFC2F5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사용자에게는 판단이 필요한 것만 위로 올리고, AI 세부 작업은 아래에서 처리한다.</a:t>
            </a:r>
          </a:p>
        </p:txBody>
      </p:sp>
    </p:spTree>
    <p:extLst>
      <p:ext uri="{BB962C8B-B14F-4D97-AF65-F5344CB8AC3E}">
        <p14:creationId xmlns:p14="http://schemas.microsoft.com/office/powerpoint/2010/main" val="4415810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402F2-96BB-49A8-B5D2-75CEF272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6B73"/>
                </a:solidFill>
                <a:latin typeface="Noto Sans KR"/>
                <a:ea typeface="Noto Sans KR"/>
                <a:cs typeface="Noto Sans KR"/>
              </a:rPr>
              <a:t>FLOWME 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2A8E5-FCB4-4D9F-BF04-FCEE7F6D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AA0A8"/>
                </a:solidFill>
                <a:latin typeface="Noto Sans KR"/>
                <a:ea typeface="Noto Sans KR"/>
                <a:cs typeface="Noto Sans KR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C7429-5714-41C3-9236-547935CC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Stop · Start · Continue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833E7-B9C6-42AE-BAF0-61836FB3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90A8A-A0DB-4420-993E-EF260B2D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STOP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7B42D-16B1-4000-92CD-CA67C0A4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B04F4-F71B-48D4-B253-6912E205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이해 못한 상태에서</a:t>
            </a:r>
          </a:p>
          <a:p xmlns:a="http://schemas.openxmlformats.org/drawingml/2006/main">
            <a:pPr algn="ctr">
              <a:defRPr sz="28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C84D4D"/>
                </a:solidFill>
                <a:latin typeface="Noto Sans KR"/>
                <a:ea typeface="Noto Sans KR"/>
                <a:cs typeface="Noto Sans KR"/>
              </a:rPr>
              <a:t>제품 폭 확장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A31ED-DD2E-437E-8E53-FAE6BADE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288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26FEC-C551-40ED-AC03-FFE9FF20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6220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08450-1509-46E9-99CA-5313F5CA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035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명시적인</a:t>
            </a:r>
          </a:p>
          <a:p xmlns:a="http://schemas.openxmlformats.org/drawingml/2006/main">
            <a:pPr algn="ctr">
              <a:defRPr sz="28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Test-ready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4316B-0559-4C2F-80E1-BF47E9BE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288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CONTINUE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78F86-8460-423E-AD80-AEF67780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6220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35CB4-8462-4B33-B868-9C9583FB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0035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엄격한 QA와</a:t>
            </a:r>
          </a:p>
          <a:p xmlns:a="http://schemas.openxmlformats.org/drawingml/2006/main">
            <a:pPr algn="ctr">
              <a:defRPr sz="28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287D5B"/>
                </a:solidFill>
                <a:latin typeface="Noto Sans KR"/>
                <a:ea typeface="Noto Sans KR"/>
                <a:cs typeface="Noto Sans KR"/>
              </a:rPr>
              <a:t>데이터 안전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53199-AADA-43EB-99FD-C0F96233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운영안 승인 뒤 기존 flow-ux-review skill에 수렴·재개방 규칙을 합친다. 지금은 보류한다.</a:t>
            </a:r>
          </a:p>
        </p:txBody>
      </p:sp>
    </p:spTree>
    <p:extLst>
      <p:ext uri="{BB962C8B-B14F-4D97-AF65-F5344CB8AC3E}">
        <p14:creationId xmlns:p14="http://schemas.microsoft.com/office/powerpoint/2010/main" val="136077983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16363-82AD-45F1-BE40-55896755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NEXT 7 DAYS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9E37E-33F5-4125-BF4D-6AD70D44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835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다음 주에는</a:t>
            </a:r>
          </a:p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P35보다 Test-ready 판정을 먼저 만든다.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D716E-E000-4500-8753-CA69CC5E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1일차 · STATUS / ROADMAP / HISTORY truth closeout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5F385-53B2-44FE-AB40-33AE1922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2일차 · golden journey 1개 고정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301ED-E504-4C07-A8A0-8A084DD7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3일차 · Test-ready 기준 5개 승인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58E14-86AF-4C8D-A778-F0D4A5DC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4–5일차 · blocker만 수정하고 자동 QA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4EFAE-0007-4EC9-9C6B-32351DC8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6일차 · 설명 없는 owner·독립 검토 walkthrough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42565-4F30-43DB-BB61-5223186F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457E6"/>
                </a:solidFill>
                <a:latin typeface="Noto Sans KR"/>
                <a:ea typeface="Noto Sans KR"/>
                <a:cs typeface="Noto Sans KR"/>
              </a:rPr>
              <a:t>7일차 · Test-ready Yes / No 판정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CA17F-E731-4995-A981-D1BA3E1E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933450" cy="571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64946-BACE-4BFE-AB76-BCAFA9A5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000625"/>
            <a:ext cx="742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FLOW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ME</a:t>
            </a:r>
          </a:p>
        </p:txBody>
      </p:sp>
    </p:spTree>
    <p:extLst>
      <p:ext uri="{BB962C8B-B14F-4D97-AF65-F5344CB8AC3E}">
        <p14:creationId xmlns:p14="http://schemas.microsoft.com/office/powerpoint/2010/main" val="271816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2026-07-25T15:38:49.3200000Z</dcterms:created>
  <dcterms:modified xsi:type="dcterms:W3CDTF">2026-07-25T15:38:49.3200000Z</dcterms:modified>
</coreProperties>
</file>